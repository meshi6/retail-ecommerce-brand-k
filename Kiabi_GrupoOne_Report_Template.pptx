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[ACTUAL]</c:v>
                </c:pt>
              </c:strCache>
            </c:strRef>
          </c:tx>
          <c:spPr>
            <a:solidFill>
              <a:srgbClr val="006EFB"/>
            </a:solidFill>
            <a:ln>
              <a:noFill/>
            </a:ln>
          </c:spPr>
          <c:cat>
            <c:strRef>
              <c:f>Sheet1!$A$2:$A$7</c:f>
              <c:strCache>
                <c:ptCount val="6"/>
                <c:pt idx="0">
                  <c:v>[M1]</c:v>
                </c:pt>
                <c:pt idx="1">
                  <c:v>[M2]</c:v>
                </c:pt>
                <c:pt idx="2">
                  <c:v>[M3]</c:v>
                </c:pt>
                <c:pt idx="3">
                  <c:v>[M4]</c:v>
                </c:pt>
                <c:pt idx="4">
                  <c:v>[M5]</c:v>
                </c:pt>
                <c:pt idx="5">
                  <c:v>[M6]</c:v>
                </c:pt>
              </c:strCache>
            </c:strRef>
          </c:cat>
          <c:val>
            <c:numRef>
              <c:f>Sheet1!$B$2:$B$7</c:f>
              <c:numCache>
                <c:formatCode>General</c:formatCode>
                <c:ptCount val="6"/>
                <c:pt idx="0">
                  <c:v>40</c:v>
                </c:pt>
                <c:pt idx="1">
                  <c:v>55</c:v>
                </c:pt>
                <c:pt idx="2">
                  <c:v>48</c:v>
                </c:pt>
                <c:pt idx="3">
                  <c:v>62</c:v>
                </c:pt>
                <c:pt idx="4">
                  <c:v>70</c:v>
                </c:pt>
                <c:pt idx="5">
                  <c:v>78</c:v>
                </c:pt>
              </c:numCache>
            </c:numRef>
          </c:val>
        </c:ser>
        <c:ser>
          <c:idx val="1"/>
          <c:order val="1"/>
          <c:tx>
            <c:strRef>
              <c:f>Sheet1!$C$1</c:f>
              <c:strCache>
                <c:ptCount val="1"/>
                <c:pt idx="0">
                  <c:v>[TARGET]</c:v>
                </c:pt>
              </c:strCache>
            </c:strRef>
          </c:tx>
          <c:spPr>
            <a:solidFill>
              <a:srgbClr val="C0BFCD"/>
            </a:solidFill>
            <a:ln>
              <a:noFill/>
            </a:ln>
          </c:spPr>
          <c:cat>
            <c:strRef>
              <c:f>Sheet1!$A$2:$A$7</c:f>
              <c:strCache>
                <c:ptCount val="6"/>
                <c:pt idx="0">
                  <c:v>[M1]</c:v>
                </c:pt>
                <c:pt idx="1">
                  <c:v>[M2]</c:v>
                </c:pt>
                <c:pt idx="2">
                  <c:v>[M3]</c:v>
                </c:pt>
                <c:pt idx="3">
                  <c:v>[M4]</c:v>
                </c:pt>
                <c:pt idx="4">
                  <c:v>[M5]</c:v>
                </c:pt>
                <c:pt idx="5">
                  <c:v>[M6]</c:v>
                </c:pt>
              </c:strCache>
            </c:strRef>
          </c:cat>
          <c:val>
            <c:numRef>
              <c:f>Sheet1!$C$2:$C$7</c:f>
              <c:numCache>
                <c:formatCode>General</c:formatCode>
                <c:ptCount val="6"/>
                <c:pt idx="0">
                  <c:v>45</c:v>
                </c:pt>
                <c:pt idx="1">
                  <c:v>50</c:v>
                </c:pt>
                <c:pt idx="2">
                  <c:v>55</c:v>
                </c:pt>
                <c:pt idx="3">
                  <c:v>60</c:v>
                </c:pt>
                <c:pt idx="4">
                  <c:v>66</c:v>
                </c:pt>
                <c:pt idx="5">
                  <c:v>72</c:v>
                </c:pt>
              </c:numCache>
            </c:numRef>
          </c:val>
        </c:ser>
        <c:gapWidth val="90"/>
        <c:overlap val="-20"/>
        <c:axId val="-2068027336"/>
        <c:axId val="-2113994440"/>
      </c:barChart>
      <c:catAx>
        <c:axId val="-2068027336"/>
        <c:scaling>
          <c:orientation val="minMax"/>
        </c:scaling>
        <c:delete val="0"/>
        <c:axPos val="b"/>
        <c:majorTickMark val="out"/>
        <c:minorTickMark val="none"/>
        <c:tickLblPos val="nextTo"/>
        <c:spPr>
          <a:ln>
            <a:solidFill>
              <a:srgbClr val="D9D8E1"/>
            </a:solidFill>
          </a:ln>
        </c:spPr>
        <c:txPr>
          <a:bodyPr/>
          <a:lstStyle/>
          <a:p>
            <a:pPr>
              <a:defRPr sz="900">
                <a:solidFill>
                  <a:srgbClr val="8E8CA5"/>
                </a:solidFill>
                <a:latin typeface="Figtree"/>
              </a:defRPr>
            </a:pPr>
          </a:p>
        </c:txPr>
        <c:crossAx val="-2113994440"/>
        <c:crosses val="autoZero"/>
        <c:auto val="1"/>
        <c:lblAlgn val="ctr"/>
        <c:lblOffset val="100"/>
        <c:noMultiLvlLbl val="0"/>
      </c:catAx>
      <c:valAx>
        <c:axId val="-2113994440"/>
        <c:scaling/>
        <c:delete val="0"/>
        <c:axPos val="l"/>
        <c:majorGridlines>
          <c:spPr>
            <a:ln w="9525">
              <a:solidFill>
                <a:srgbClr val="EAEAEF"/>
              </a:solidFill>
            </a:ln>
          </c:spPr>
        </c:majorGridlines>
        <c:majorTickMark val="out"/>
        <c:minorTickMark val="none"/>
        <c:tickLblPos val="nextTo"/>
        <c:spPr>
          <a:ln>
            <a:solidFill>
              <a:srgbClr val="D9D8E1"/>
            </a:solidFill>
          </a:ln>
        </c:spPr>
        <c:txPr>
          <a:bodyPr/>
          <a:lstStyle/>
          <a:p>
            <a:pPr>
              <a:defRPr sz="900">
                <a:solidFill>
                  <a:srgbClr val="8E8CA5"/>
                </a:solidFill>
                <a:latin typeface="Figtree"/>
              </a:defRPr>
            </a:pPr>
          </a:p>
        </c:txPr>
        <c:crossAx val="-2068027336"/>
        <c:crosses val="autoZero"/>
      </c:valAx>
    </c:plotArea>
    <c:legend>
      <c:legendPos val="b"/>
      <c:overlay val="0"/>
      <c:txPr>
        <a:bodyPr/>
        <a:lstStyle/>
        <a:p>
          <a:pPr>
            <a:defRPr sz="900">
              <a:solidFill>
                <a:srgbClr val="4F4C73"/>
              </a:solidFill>
              <a:latin typeface="Figtree"/>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 1) Open with the single most important headline of this edition (one sentence). 2) Confirm the reporting period and what has changed since the last edition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 1) Walk the four KPIs left to right; flag any figure that deviates &gt;10% from plan. 2) State the headline insight in your own words and link it to the decision you want from HQ.</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 1) Give HQ the 30-second read on Argentina this month — what changed in the operating environment. 2) Translate one macro data point into a concrete implication for Kiabi pricing or assortment.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 1) Confirm which milestones moved since last edition and whether the critical path date still holds. 2) Name the single biggest blocker on the current phase and the help needed from HQ, if any.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 1) Explain the gap between actual and target — is it traffic, conversion or basket? 2) Close with the one corrective action and the date by which HQ will see its effect.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 1) Pair one number with one quote to tell a single customer story, not two lists. 2) End on the 'so what' — what this changes in next month's plan.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 1) Lead with the channel that over- or under-delivered, not the full grid. 2) Show the highlighted creative and say why it worked — and whether it is replicable for the next campaign.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 1) Be candid: present the highest-severity risk first and say plainly if it threatens a committed date or number. 2) For each risk, confirm the owner and whether mitigation is on track since last edition.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 1) Read only the actions that changed status; do not re-read the table. 2) Close by securing the decisions in the yellow band — get an explicit yes/no or a date from HQ before leaving the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PROMPTS — 1) Recap the two or three commitments made in this meeting, with owners. 2) Confirm the date and format of the next review before closing the call.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chart" Target="../charts/char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0037"/>
        </a:solidFill>
        <a:effectLst/>
      </p:bgPr>
    </p:bg>
    <p:spTree>
      <p:nvGrpSpPr>
        <p:cNvPr id="1" name=""/>
        <p:cNvGrpSpPr/>
        <p:nvPr/>
      </p:nvGrpSpPr>
      <p:grpSpPr/>
      <p:pic>
        <p:nvPicPr>
          <p:cNvPr id="2" name="Picture 1" descr="fan_dark.png"/>
          <p:cNvPicPr>
            <a:picLocks noChangeAspect="1"/>
          </p:cNvPicPr>
          <p:nvPr/>
        </p:nvPicPr>
        <p:blipFill>
          <a:blip r:embed="rId2"/>
          <a:stretch>
            <a:fillRect/>
          </a:stretch>
        </p:blipFill>
        <p:spPr>
          <a:xfrm>
            <a:off x="7345375" y="2011680"/>
            <a:ext cx="4846320" cy="4846320"/>
          </a:xfrm>
          <a:prstGeom prst="rect">
            <a:avLst/>
          </a:prstGeom>
        </p:spPr>
      </p:pic>
      <p:pic>
        <p:nvPicPr>
          <p:cNvPr id="3" name="Picture 2" descr="kiabi_white.png"/>
          <p:cNvPicPr>
            <a:picLocks noChangeAspect="1"/>
          </p:cNvPicPr>
          <p:nvPr/>
        </p:nvPicPr>
        <p:blipFill>
          <a:blip r:embed="rId3"/>
          <a:stretch>
            <a:fillRect/>
          </a:stretch>
        </p:blipFill>
        <p:spPr>
          <a:xfrm>
            <a:off x="502920" y="475488"/>
            <a:ext cx="1783080" cy="396240"/>
          </a:xfrm>
          <a:prstGeom prst="rect">
            <a:avLst/>
          </a:prstGeom>
        </p:spPr>
      </p:pic>
      <p:pic>
        <p:nvPicPr>
          <p:cNvPr id="4" name="Picture 3" descr="gone_white.png"/>
          <p:cNvPicPr>
            <a:picLocks noChangeAspect="1"/>
          </p:cNvPicPr>
          <p:nvPr/>
        </p:nvPicPr>
        <p:blipFill>
          <a:blip r:embed="rId4"/>
          <a:stretch>
            <a:fillRect/>
          </a:stretch>
        </p:blipFill>
        <p:spPr>
          <a:xfrm>
            <a:off x="10728655" y="384048"/>
            <a:ext cx="960120" cy="968654"/>
          </a:xfrm>
          <a:prstGeom prst="rect">
            <a:avLst/>
          </a:prstGeom>
        </p:spPr>
      </p:pic>
      <p:sp>
        <p:nvSpPr>
          <p:cNvPr id="5" name="TextBox 4"/>
          <p:cNvSpPr txBox="1"/>
          <p:nvPr/>
        </p:nvSpPr>
        <p:spPr>
          <a:xfrm>
            <a:off x="521207" y="2212848"/>
            <a:ext cx="8686800" cy="320040"/>
          </a:xfrm>
          <a:prstGeom prst="rect">
            <a:avLst/>
          </a:prstGeom>
          <a:noFill/>
        </p:spPr>
        <p:txBody>
          <a:bodyPr wrap="square" anchor="t" lIns="0" rIns="0" tIns="0" bIns="0">
            <a:noAutofit/>
          </a:bodyPr>
          <a:lstStyle/>
          <a:p>
            <a:pPr algn="l"/>
            <a:r>
              <a:rPr sz="1200" b="1" i="0" spc="380">
                <a:solidFill>
                  <a:srgbClr val="FFDA00"/>
                </a:solidFill>
                <a:latin typeface="Figtree"/>
              </a:rPr>
              <a:t>PARIS · BUENOS AIRES</a:t>
            </a:r>
            <a:r>
              <a:rPr sz="1200" b="0" i="0" spc="380">
                <a:solidFill>
                  <a:srgbClr val="BDBBD4"/>
                </a:solidFill>
                <a:latin typeface="Figtree"/>
              </a:rPr>
              <a:t>   —   BRAND PERFORMANCE REPORT</a:t>
            </a:r>
          </a:p>
        </p:txBody>
      </p:sp>
      <p:sp>
        <p:nvSpPr>
          <p:cNvPr id="6" name="TextBox 5"/>
          <p:cNvSpPr txBox="1"/>
          <p:nvPr/>
        </p:nvSpPr>
        <p:spPr>
          <a:xfrm>
            <a:off x="502920" y="2606040"/>
            <a:ext cx="8229600" cy="1554480"/>
          </a:xfrm>
          <a:prstGeom prst="rect">
            <a:avLst/>
          </a:prstGeom>
          <a:noFill/>
        </p:spPr>
        <p:txBody>
          <a:bodyPr wrap="square" anchor="t" lIns="0" rIns="0" tIns="0" bIns="0">
            <a:noAutofit/>
          </a:bodyPr>
          <a:lstStyle/>
          <a:p>
            <a:pPr algn="l">
              <a:lnSpc>
                <a:spcPct val="100000"/>
              </a:lnSpc>
            </a:pPr>
            <a:r>
              <a:rPr sz="5200" b="1" i="0">
                <a:solidFill>
                  <a:srgbClr val="FFFFFF"/>
                </a:solidFill>
                <a:latin typeface="Figtree"/>
              </a:rPr>
              <a:t>[REPORT TITLE]</a:t>
            </a:r>
          </a:p>
          <a:p>
            <a:pPr algn="l">
              <a:spcBef>
                <a:spcPts val="1400"/>
              </a:spcBef>
            </a:pPr>
            <a:r>
              <a:rPr sz="1700" b="0" i="0">
                <a:solidFill>
                  <a:srgbClr val="BDBBD4"/>
                </a:solidFill>
                <a:latin typeface="Figtree"/>
              </a:rPr>
              <a:t>Kiabi Argentina — progress, performance &amp; insights</a:t>
            </a:r>
          </a:p>
        </p:txBody>
      </p:sp>
      <p:sp>
        <p:nvSpPr>
          <p:cNvPr id="7" name="Rounded Rectangle 6"/>
          <p:cNvSpPr/>
          <p:nvPr/>
        </p:nvSpPr>
        <p:spPr>
          <a:xfrm>
            <a:off x="502920" y="4846320"/>
            <a:ext cx="1783080" cy="420624"/>
          </a:xfrm>
          <a:prstGeom prst="roundRect">
            <a:avLst>
              <a:gd name="adj" fmla="val 50000"/>
            </a:avLst>
          </a:prstGeom>
          <a:noFill/>
          <a:ln w="12700">
            <a:solidFill>
              <a:srgbClr val="BDBBD4"/>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000" b="1" spc="200">
                <a:solidFill>
                  <a:srgbClr val="FFFFFF"/>
                </a:solidFill>
                <a:latin typeface="Figtree"/>
              </a:rPr>
              <a:t>EDITION Nº [00]</a:t>
            </a:r>
          </a:p>
        </p:txBody>
      </p:sp>
      <p:sp>
        <p:nvSpPr>
          <p:cNvPr id="8" name="Rounded Rectangle 7"/>
          <p:cNvSpPr/>
          <p:nvPr/>
        </p:nvSpPr>
        <p:spPr>
          <a:xfrm>
            <a:off x="2468880" y="4846320"/>
            <a:ext cx="1691640" cy="420624"/>
          </a:xfrm>
          <a:prstGeom prst="roundRect">
            <a:avLst>
              <a:gd name="adj" fmla="val 50000"/>
            </a:avLst>
          </a:prstGeom>
          <a:noFill/>
          <a:ln w="12700">
            <a:solidFill>
              <a:srgbClr val="BDBBD4"/>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000" b="1" spc="200">
                <a:solidFill>
                  <a:srgbClr val="FFFFFF"/>
                </a:solidFill>
                <a:latin typeface="Figtree"/>
              </a:rPr>
              <a:t>[MONTH YEAR]</a:t>
            </a:r>
          </a:p>
        </p:txBody>
      </p:sp>
      <p:sp>
        <p:nvSpPr>
          <p:cNvPr id="9" name="Rounded Rectangle 8"/>
          <p:cNvSpPr/>
          <p:nvPr/>
        </p:nvSpPr>
        <p:spPr>
          <a:xfrm>
            <a:off x="4343400" y="4846320"/>
            <a:ext cx="3017520" cy="420624"/>
          </a:xfrm>
          <a:prstGeom prst="roundRect">
            <a:avLst>
              <a:gd name="adj" fmla="val 50000"/>
            </a:avLst>
          </a:prstGeom>
          <a:noFill/>
          <a:ln w="12700">
            <a:solidFill>
              <a:srgbClr val="BDBBD4"/>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000" b="1" spc="200">
                <a:solidFill>
                  <a:srgbClr val="FFFFFF"/>
                </a:solidFill>
                <a:latin typeface="Figtree"/>
              </a:rPr>
              <a:t>PREPARED FOR KIABI HQ · FRANCE</a:t>
            </a:r>
          </a:p>
        </p:txBody>
      </p:sp>
      <p:sp>
        <p:nvSpPr>
          <p:cNvPr id="10" name="TextBox 9"/>
          <p:cNvSpPr txBox="1"/>
          <p:nvPr/>
        </p:nvSpPr>
        <p:spPr>
          <a:xfrm>
            <a:off x="502920" y="5989320"/>
            <a:ext cx="7772400" cy="457200"/>
          </a:xfrm>
          <a:prstGeom prst="rect">
            <a:avLst/>
          </a:prstGeom>
          <a:noFill/>
        </p:spPr>
        <p:txBody>
          <a:bodyPr wrap="square" anchor="t" lIns="0" rIns="0" tIns="0" bIns="0">
            <a:noAutofit/>
          </a:bodyPr>
          <a:lstStyle/>
          <a:p>
            <a:pPr algn="l"/>
            <a:r>
              <a:rPr sz="1050" b="1" i="0">
                <a:solidFill>
                  <a:srgbClr val="BDBBD4"/>
                </a:solidFill>
                <a:latin typeface="Figtree"/>
              </a:rPr>
              <a:t>Presented by Grupo One — </a:t>
            </a:r>
            <a:r>
              <a:rPr sz="1050" b="0" i="1">
                <a:solidFill>
                  <a:srgbClr val="BDBBD4"/>
                </a:solidFill>
                <a:latin typeface="Figtree"/>
              </a:rPr>
              <a:t>elevating global brands in the region</a:t>
            </a:r>
          </a:p>
        </p:txBody>
      </p:sp>
      <p:sp>
        <p:nvSpPr>
          <p:cNvPr id="11" name="Rectangle 10"/>
          <p:cNvSpPr/>
          <p:nvPr/>
        </p:nvSpPr>
        <p:spPr>
          <a:xfrm>
            <a:off x="0" y="6729984"/>
            <a:ext cx="2447483" cy="128016"/>
          </a:xfrm>
          <a:prstGeom prst="rect">
            <a:avLst/>
          </a:prstGeom>
          <a:solidFill>
            <a:srgbClr val="FB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38339" y="6729984"/>
            <a:ext cx="2447483" cy="128016"/>
          </a:xfrm>
          <a:prstGeom prst="rect">
            <a:avLst/>
          </a:prstGeom>
          <a:solidFill>
            <a:srgbClr val="E9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876678" y="6729984"/>
            <a:ext cx="2447483" cy="128016"/>
          </a:xfrm>
          <a:prstGeom prst="rect">
            <a:avLst/>
          </a:prstGeom>
          <a:solidFill>
            <a:srgbClr val="FFD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017" y="6729984"/>
            <a:ext cx="2447483" cy="128016"/>
          </a:xfrm>
          <a:prstGeom prst="rect">
            <a:avLst/>
          </a:prstGeom>
          <a:solidFill>
            <a:srgbClr val="20B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753356" y="6729984"/>
            <a:ext cx="2447483" cy="128016"/>
          </a:xfrm>
          <a:prstGeom prst="rect">
            <a:avLst/>
          </a:prstGeom>
          <a:solidFill>
            <a:srgbClr val="006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an_light.png"/>
          <p:cNvPicPr>
            <a:picLocks noChangeAspect="1"/>
          </p:cNvPicPr>
          <p:nvPr/>
        </p:nvPicPr>
        <p:blipFill>
          <a:blip r:embed="rId2"/>
          <a:stretch>
            <a:fillRect/>
          </a:stretch>
        </p:blipFill>
        <p:spPr>
          <a:xfrm>
            <a:off x="10271455" y="0"/>
            <a:ext cx="1920240" cy="1920240"/>
          </a:xfrm>
          <a:prstGeom prst="rect">
            <a:avLst/>
          </a:prstGeom>
        </p:spPr>
      </p:pic>
      <p:pic>
        <p:nvPicPr>
          <p:cNvPr id="3" name="Picture 2" descr="glyph_blue.png"/>
          <p:cNvPicPr>
            <a:picLocks noChangeAspect="1"/>
          </p:cNvPicPr>
          <p:nvPr/>
        </p:nvPicPr>
        <p:blipFill>
          <a:blip r:embed="rId3"/>
          <a:stretch>
            <a:fillRect/>
          </a:stretch>
        </p:blipFill>
        <p:spPr>
          <a:xfrm>
            <a:off x="502920" y="512064"/>
            <a:ext cx="274320" cy="274320"/>
          </a:xfrm>
          <a:prstGeom prst="rect">
            <a:avLst/>
          </a:prstGeom>
        </p:spPr>
      </p:pic>
      <p:sp>
        <p:nvSpPr>
          <p:cNvPr id="4" name="TextBox 3"/>
          <p:cNvSpPr txBox="1"/>
          <p:nvPr/>
        </p:nvSpPr>
        <p:spPr>
          <a:xfrm>
            <a:off x="886968" y="429768"/>
            <a:ext cx="9144000" cy="274320"/>
          </a:xfrm>
          <a:prstGeom prst="rect">
            <a:avLst/>
          </a:prstGeom>
          <a:noFill/>
        </p:spPr>
        <p:txBody>
          <a:bodyPr wrap="square" anchor="t" lIns="0" rIns="0" tIns="0" bIns="0">
            <a:noAutofit/>
          </a:bodyPr>
          <a:lstStyle/>
          <a:p>
            <a:pPr algn="l"/>
            <a:r>
              <a:rPr sz="1050" b="1" i="0" spc="280">
                <a:solidFill>
                  <a:srgbClr val="006EFB"/>
                </a:solidFill>
                <a:latin typeface="Figtree"/>
              </a:rPr>
              <a:t>02 — SYNTHÈSE · RESUMEN EJECUTIVO</a:t>
            </a:r>
          </a:p>
        </p:txBody>
      </p:sp>
      <p:sp>
        <p:nvSpPr>
          <p:cNvPr id="5" name="TextBox 4"/>
          <p:cNvSpPr txBox="1"/>
          <p:nvPr/>
        </p:nvSpPr>
        <p:spPr>
          <a:xfrm>
            <a:off x="868680" y="676656"/>
            <a:ext cx="9601200" cy="594360"/>
          </a:xfrm>
          <a:prstGeom prst="rect">
            <a:avLst/>
          </a:prstGeom>
          <a:noFill/>
        </p:spPr>
        <p:txBody>
          <a:bodyPr wrap="square" anchor="t" lIns="0" rIns="0" tIns="0" bIns="0">
            <a:noAutofit/>
          </a:bodyPr>
          <a:lstStyle/>
          <a:p>
            <a:pPr algn="l"/>
            <a:r>
              <a:rPr sz="2700" b="1" i="0">
                <a:solidFill>
                  <a:srgbClr val="040037"/>
                </a:solidFill>
                <a:latin typeface="Figtree"/>
              </a:rPr>
              <a:t>Executive Summary</a:t>
            </a:r>
          </a:p>
        </p:txBody>
      </p:sp>
      <p:cxnSp>
        <p:nvCxnSpPr>
          <p:cNvPr id="6" name="Connector 5"/>
          <p:cNvCxnSpPr/>
          <p:nvPr/>
        </p:nvCxnSpPr>
        <p:spPr>
          <a:xfrm>
            <a:off x="502920" y="1389888"/>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73952"/>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47104"/>
            <a:ext cx="5486400" cy="274320"/>
          </a:xfrm>
          <a:prstGeom prst="rect">
            <a:avLst/>
          </a:prstGeom>
          <a:noFill/>
        </p:spPr>
        <p:txBody>
          <a:bodyPr wrap="square" anchor="t" lIns="0" rIns="0" tIns="0" bIns="0">
            <a:noAutofit/>
          </a:bodyPr>
          <a:lstStyle/>
          <a:p>
            <a:pPr algn="l"/>
            <a:r>
              <a:rPr sz="750" b="1" i="0" spc="200">
                <a:solidFill>
                  <a:srgbClr val="8E8CA5"/>
                </a:solidFill>
                <a:latin typeface="Figtree"/>
              </a:rPr>
              <a:t>GRUPO ONE × KIABI</a:t>
            </a:r>
            <a:r>
              <a:rPr sz="750" b="0" i="0" spc="200">
                <a:solidFill>
                  <a:srgbClr val="8E8CA5"/>
                </a:solidFill>
                <a:latin typeface="Figtree"/>
              </a:rPr>
              <a:t>   ·   CONFIDENTIAL — FOR KIABI HQ</a:t>
            </a:r>
          </a:p>
        </p:txBody>
      </p:sp>
      <p:sp>
        <p:nvSpPr>
          <p:cNvPr id="9" name="TextBox 8"/>
          <p:cNvSpPr txBox="1"/>
          <p:nvPr/>
        </p:nvSpPr>
        <p:spPr>
          <a:xfrm>
            <a:off x="8031175" y="6547104"/>
            <a:ext cx="3657600" cy="274320"/>
          </a:xfrm>
          <a:prstGeom prst="rect">
            <a:avLst/>
          </a:prstGeom>
          <a:noFill/>
        </p:spPr>
        <p:txBody>
          <a:bodyPr wrap="square" anchor="t" lIns="0" rIns="0" tIns="0" bIns="0">
            <a:noAutofit/>
          </a:bodyPr>
          <a:lstStyle/>
          <a:p>
            <a:pPr algn="r"/>
            <a:r>
              <a:rPr sz="750" b="0" i="0" spc="200">
                <a:solidFill>
                  <a:srgbClr val="8E8CA5"/>
                </a:solidFill>
                <a:latin typeface="Figtree"/>
              </a:rPr>
              <a:t>[MONTH YEAR]   ·   </a:t>
            </a:r>
            <a:r>
              <a:rPr sz="750" b="1" i="0" spc="200">
                <a:solidFill>
                  <a:srgbClr val="8E8CA5"/>
                </a:solidFill>
                <a:latin typeface="Figtree"/>
              </a:rPr>
              <a:t>02 / 10</a:t>
            </a:r>
          </a:p>
        </p:txBody>
      </p:sp>
      <p:sp>
        <p:nvSpPr>
          <p:cNvPr id="10" name="Rounded Rectangle 9"/>
          <p:cNvSpPr/>
          <p:nvPr/>
        </p:nvSpPr>
        <p:spPr>
          <a:xfrm>
            <a:off x="502920" y="1691640"/>
            <a:ext cx="2670048" cy="1874519"/>
          </a:xfrm>
          <a:prstGeom prst="roundRect">
            <a:avLst>
              <a:gd name="adj" fmla="val 7000"/>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691640"/>
            <a:ext cx="2670048" cy="82296"/>
          </a:xfrm>
          <a:prstGeom prst="rect">
            <a:avLst/>
          </a:prstGeom>
          <a:solidFill>
            <a:srgbClr val="006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1993392"/>
            <a:ext cx="2267712" cy="731520"/>
          </a:xfrm>
          <a:prstGeom prst="rect">
            <a:avLst/>
          </a:prstGeom>
          <a:noFill/>
        </p:spPr>
        <p:txBody>
          <a:bodyPr wrap="square" anchor="t" lIns="0" rIns="0" tIns="0" bIns="0">
            <a:noAutofit/>
          </a:bodyPr>
          <a:lstStyle/>
          <a:p>
            <a:pPr algn="l"/>
            <a:r>
              <a:rPr sz="3400" b="1" i="0">
                <a:solidFill>
                  <a:srgbClr val="040037"/>
                </a:solidFill>
                <a:latin typeface="Figtree"/>
              </a:rPr>
              <a:t>[METRIC]</a:t>
            </a:r>
          </a:p>
        </p:txBody>
      </p:sp>
      <p:sp>
        <p:nvSpPr>
          <p:cNvPr id="13" name="TextBox 12"/>
          <p:cNvSpPr txBox="1"/>
          <p:nvPr/>
        </p:nvSpPr>
        <p:spPr>
          <a:xfrm>
            <a:off x="704088" y="2697480"/>
            <a:ext cx="2267712" cy="411480"/>
          </a:xfrm>
          <a:prstGeom prst="rect">
            <a:avLst/>
          </a:prstGeom>
          <a:noFill/>
        </p:spPr>
        <p:txBody>
          <a:bodyPr wrap="square" anchor="t" lIns="0" rIns="0" tIns="0" bIns="0">
            <a:noAutofit/>
          </a:bodyPr>
          <a:lstStyle/>
          <a:p>
            <a:pPr algn="l">
              <a:lnSpc>
                <a:spcPct val="110000"/>
              </a:lnSpc>
            </a:pPr>
            <a:r>
              <a:rPr sz="900" b="1" i="0" spc="120">
                <a:solidFill>
                  <a:srgbClr val="4F4C73"/>
                </a:solidFill>
                <a:latin typeface="Figtree"/>
              </a:rPr>
              <a:t>[KPI 1 — e.g. NET SALES]</a:t>
            </a:r>
          </a:p>
        </p:txBody>
      </p:sp>
      <p:sp>
        <p:nvSpPr>
          <p:cNvPr id="14" name="TextBox 13"/>
          <p:cNvSpPr txBox="1"/>
          <p:nvPr/>
        </p:nvSpPr>
        <p:spPr>
          <a:xfrm>
            <a:off x="704088" y="3127248"/>
            <a:ext cx="2267712" cy="320040"/>
          </a:xfrm>
          <a:prstGeom prst="rect">
            <a:avLst/>
          </a:prstGeom>
          <a:noFill/>
        </p:spPr>
        <p:txBody>
          <a:bodyPr wrap="square" anchor="t" lIns="0" rIns="0" tIns="0" bIns="0">
            <a:noAutofit/>
          </a:bodyPr>
          <a:lstStyle/>
          <a:p>
            <a:pPr algn="l"/>
            <a:r>
              <a:rPr sz="950" b="1" i="0">
                <a:solidFill>
                  <a:srgbClr val="20B14A"/>
                </a:solidFill>
                <a:latin typeface="Figtree"/>
              </a:rPr>
              <a:t>▲ [+X.X%] </a:t>
            </a:r>
            <a:r>
              <a:rPr sz="800" b="0" i="0" spc="100">
                <a:solidFill>
                  <a:srgbClr val="8E8CA5"/>
                </a:solidFill>
                <a:latin typeface="Figtree"/>
              </a:rPr>
              <a:t>VS LAST MONTH</a:t>
            </a:r>
          </a:p>
        </p:txBody>
      </p:sp>
      <p:sp>
        <p:nvSpPr>
          <p:cNvPr id="15" name="Rounded Rectangle 14"/>
          <p:cNvSpPr/>
          <p:nvPr/>
        </p:nvSpPr>
        <p:spPr>
          <a:xfrm>
            <a:off x="3344418" y="1691640"/>
            <a:ext cx="2670048" cy="1874519"/>
          </a:xfrm>
          <a:prstGeom prst="roundRect">
            <a:avLst>
              <a:gd name="adj" fmla="val 7000"/>
            </a:avLst>
          </a:prstGeom>
          <a:solidFill>
            <a:srgbClr val="FE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4418" y="1691640"/>
            <a:ext cx="2670048" cy="82296"/>
          </a:xfrm>
          <a:prstGeom prst="rect">
            <a:avLst/>
          </a:prstGeom>
          <a:solidFill>
            <a:srgbClr val="FB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45586" y="1993392"/>
            <a:ext cx="2267712" cy="731520"/>
          </a:xfrm>
          <a:prstGeom prst="rect">
            <a:avLst/>
          </a:prstGeom>
          <a:noFill/>
        </p:spPr>
        <p:txBody>
          <a:bodyPr wrap="square" anchor="t" lIns="0" rIns="0" tIns="0" bIns="0">
            <a:noAutofit/>
          </a:bodyPr>
          <a:lstStyle/>
          <a:p>
            <a:pPr algn="l"/>
            <a:r>
              <a:rPr sz="3400" b="1" i="0">
                <a:solidFill>
                  <a:srgbClr val="040037"/>
                </a:solidFill>
                <a:latin typeface="Figtree"/>
              </a:rPr>
              <a:t>[METRIC]</a:t>
            </a:r>
          </a:p>
        </p:txBody>
      </p:sp>
      <p:sp>
        <p:nvSpPr>
          <p:cNvPr id="18" name="TextBox 17"/>
          <p:cNvSpPr txBox="1"/>
          <p:nvPr/>
        </p:nvSpPr>
        <p:spPr>
          <a:xfrm>
            <a:off x="3545586" y="2697480"/>
            <a:ext cx="2267712" cy="411480"/>
          </a:xfrm>
          <a:prstGeom prst="rect">
            <a:avLst/>
          </a:prstGeom>
          <a:noFill/>
        </p:spPr>
        <p:txBody>
          <a:bodyPr wrap="square" anchor="t" lIns="0" rIns="0" tIns="0" bIns="0">
            <a:noAutofit/>
          </a:bodyPr>
          <a:lstStyle/>
          <a:p>
            <a:pPr algn="l">
              <a:lnSpc>
                <a:spcPct val="110000"/>
              </a:lnSpc>
            </a:pPr>
            <a:r>
              <a:rPr sz="900" b="1" i="0" spc="120">
                <a:solidFill>
                  <a:srgbClr val="4F4C73"/>
                </a:solidFill>
                <a:latin typeface="Figtree"/>
              </a:rPr>
              <a:t>[KPI 2 — e.g. STORE TRAFFIC]</a:t>
            </a:r>
          </a:p>
        </p:txBody>
      </p:sp>
      <p:sp>
        <p:nvSpPr>
          <p:cNvPr id="19" name="TextBox 18"/>
          <p:cNvSpPr txBox="1"/>
          <p:nvPr/>
        </p:nvSpPr>
        <p:spPr>
          <a:xfrm>
            <a:off x="3545586" y="3127248"/>
            <a:ext cx="2267712" cy="320040"/>
          </a:xfrm>
          <a:prstGeom prst="rect">
            <a:avLst/>
          </a:prstGeom>
          <a:noFill/>
        </p:spPr>
        <p:txBody>
          <a:bodyPr wrap="square" anchor="t" lIns="0" rIns="0" tIns="0" bIns="0">
            <a:noAutofit/>
          </a:bodyPr>
          <a:lstStyle/>
          <a:p>
            <a:pPr algn="l"/>
            <a:r>
              <a:rPr sz="950" b="1" i="0">
                <a:solidFill>
                  <a:srgbClr val="20B14A"/>
                </a:solidFill>
                <a:latin typeface="Figtree"/>
              </a:rPr>
              <a:t>▲ [+X.X%] </a:t>
            </a:r>
            <a:r>
              <a:rPr sz="800" b="0" i="0" spc="100">
                <a:solidFill>
                  <a:srgbClr val="8E8CA5"/>
                </a:solidFill>
                <a:latin typeface="Figtree"/>
              </a:rPr>
              <a:t>VS LAST MONTH</a:t>
            </a:r>
          </a:p>
        </p:txBody>
      </p:sp>
      <p:sp>
        <p:nvSpPr>
          <p:cNvPr id="20" name="Rounded Rectangle 19"/>
          <p:cNvSpPr/>
          <p:nvPr/>
        </p:nvSpPr>
        <p:spPr>
          <a:xfrm>
            <a:off x="6185916" y="1691640"/>
            <a:ext cx="2670048" cy="1874519"/>
          </a:xfrm>
          <a:prstGeom prst="roundRect">
            <a:avLst>
              <a:gd name="adj" fmla="val 7000"/>
            </a:avLst>
          </a:prstGeom>
          <a:solidFill>
            <a:srgbClr val="ED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5916" y="1691640"/>
            <a:ext cx="2670048" cy="82296"/>
          </a:xfrm>
          <a:prstGeom prst="rect">
            <a:avLst/>
          </a:prstGeom>
          <a:solidFill>
            <a:srgbClr val="20B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7083" y="1993392"/>
            <a:ext cx="2267712" cy="731520"/>
          </a:xfrm>
          <a:prstGeom prst="rect">
            <a:avLst/>
          </a:prstGeom>
          <a:noFill/>
        </p:spPr>
        <p:txBody>
          <a:bodyPr wrap="square" anchor="t" lIns="0" rIns="0" tIns="0" bIns="0">
            <a:noAutofit/>
          </a:bodyPr>
          <a:lstStyle/>
          <a:p>
            <a:pPr algn="l"/>
            <a:r>
              <a:rPr sz="3400" b="1" i="0">
                <a:solidFill>
                  <a:srgbClr val="040037"/>
                </a:solidFill>
                <a:latin typeface="Figtree"/>
              </a:rPr>
              <a:t>[METRIC]</a:t>
            </a:r>
          </a:p>
        </p:txBody>
      </p:sp>
      <p:sp>
        <p:nvSpPr>
          <p:cNvPr id="23" name="TextBox 22"/>
          <p:cNvSpPr txBox="1"/>
          <p:nvPr/>
        </p:nvSpPr>
        <p:spPr>
          <a:xfrm>
            <a:off x="6387083" y="2697480"/>
            <a:ext cx="2267712" cy="411480"/>
          </a:xfrm>
          <a:prstGeom prst="rect">
            <a:avLst/>
          </a:prstGeom>
          <a:noFill/>
        </p:spPr>
        <p:txBody>
          <a:bodyPr wrap="square" anchor="t" lIns="0" rIns="0" tIns="0" bIns="0">
            <a:noAutofit/>
          </a:bodyPr>
          <a:lstStyle/>
          <a:p>
            <a:pPr algn="l">
              <a:lnSpc>
                <a:spcPct val="110000"/>
              </a:lnSpc>
            </a:pPr>
            <a:r>
              <a:rPr sz="900" b="1" i="0" spc="120">
                <a:solidFill>
                  <a:srgbClr val="4F4C73"/>
                </a:solidFill>
                <a:latin typeface="Figtree"/>
              </a:rPr>
              <a:t>[KPI 3 — e.g. CONVERSION]</a:t>
            </a:r>
          </a:p>
        </p:txBody>
      </p:sp>
      <p:sp>
        <p:nvSpPr>
          <p:cNvPr id="24" name="TextBox 23"/>
          <p:cNvSpPr txBox="1"/>
          <p:nvPr/>
        </p:nvSpPr>
        <p:spPr>
          <a:xfrm>
            <a:off x="6387083" y="3127248"/>
            <a:ext cx="2267712" cy="320040"/>
          </a:xfrm>
          <a:prstGeom prst="rect">
            <a:avLst/>
          </a:prstGeom>
          <a:noFill/>
        </p:spPr>
        <p:txBody>
          <a:bodyPr wrap="square" anchor="t" lIns="0" rIns="0" tIns="0" bIns="0">
            <a:noAutofit/>
          </a:bodyPr>
          <a:lstStyle/>
          <a:p>
            <a:pPr algn="l"/>
            <a:r>
              <a:rPr sz="950" b="1" i="0">
                <a:solidFill>
                  <a:srgbClr val="20B14A"/>
                </a:solidFill>
                <a:latin typeface="Figtree"/>
              </a:rPr>
              <a:t>▲ [+X.X%] </a:t>
            </a:r>
            <a:r>
              <a:rPr sz="800" b="0" i="0" spc="100">
                <a:solidFill>
                  <a:srgbClr val="8E8CA5"/>
                </a:solidFill>
                <a:latin typeface="Figtree"/>
              </a:rPr>
              <a:t>VS LAST MONTH</a:t>
            </a:r>
          </a:p>
        </p:txBody>
      </p:sp>
      <p:sp>
        <p:nvSpPr>
          <p:cNvPr id="25" name="Rounded Rectangle 24"/>
          <p:cNvSpPr/>
          <p:nvPr/>
        </p:nvSpPr>
        <p:spPr>
          <a:xfrm>
            <a:off x="9027414" y="1691640"/>
            <a:ext cx="2670048" cy="1874519"/>
          </a:xfrm>
          <a:prstGeom prst="roundRect">
            <a:avLst>
              <a:gd name="adj" fmla="val 7000"/>
            </a:avLst>
          </a:prstGeom>
          <a:solidFill>
            <a:srgbClr val="FFF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27414" y="1691640"/>
            <a:ext cx="2670048" cy="82296"/>
          </a:xfrm>
          <a:prstGeom prst="rect">
            <a:avLst/>
          </a:prstGeom>
          <a:solidFill>
            <a:srgbClr val="FFD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8582" y="1993392"/>
            <a:ext cx="2267712" cy="731520"/>
          </a:xfrm>
          <a:prstGeom prst="rect">
            <a:avLst/>
          </a:prstGeom>
          <a:noFill/>
        </p:spPr>
        <p:txBody>
          <a:bodyPr wrap="square" anchor="t" lIns="0" rIns="0" tIns="0" bIns="0">
            <a:noAutofit/>
          </a:bodyPr>
          <a:lstStyle/>
          <a:p>
            <a:pPr algn="l"/>
            <a:r>
              <a:rPr sz="3400" b="1" i="0">
                <a:solidFill>
                  <a:srgbClr val="040037"/>
                </a:solidFill>
                <a:latin typeface="Figtree"/>
              </a:rPr>
              <a:t>[METRIC]</a:t>
            </a:r>
          </a:p>
        </p:txBody>
      </p:sp>
      <p:sp>
        <p:nvSpPr>
          <p:cNvPr id="28" name="TextBox 27"/>
          <p:cNvSpPr txBox="1"/>
          <p:nvPr/>
        </p:nvSpPr>
        <p:spPr>
          <a:xfrm>
            <a:off x="9228582" y="2697480"/>
            <a:ext cx="2267712" cy="411480"/>
          </a:xfrm>
          <a:prstGeom prst="rect">
            <a:avLst/>
          </a:prstGeom>
          <a:noFill/>
        </p:spPr>
        <p:txBody>
          <a:bodyPr wrap="square" anchor="t" lIns="0" rIns="0" tIns="0" bIns="0">
            <a:noAutofit/>
          </a:bodyPr>
          <a:lstStyle/>
          <a:p>
            <a:pPr algn="l">
              <a:lnSpc>
                <a:spcPct val="110000"/>
              </a:lnSpc>
            </a:pPr>
            <a:r>
              <a:rPr sz="900" b="1" i="0" spc="120">
                <a:solidFill>
                  <a:srgbClr val="4F4C73"/>
                </a:solidFill>
                <a:latin typeface="Figtree"/>
              </a:rPr>
              <a:t>[KPI 4 — e.g. SOCIAL REACH]</a:t>
            </a:r>
          </a:p>
        </p:txBody>
      </p:sp>
      <p:sp>
        <p:nvSpPr>
          <p:cNvPr id="29" name="TextBox 28"/>
          <p:cNvSpPr txBox="1"/>
          <p:nvPr/>
        </p:nvSpPr>
        <p:spPr>
          <a:xfrm>
            <a:off x="9228582" y="3127248"/>
            <a:ext cx="2267712" cy="320040"/>
          </a:xfrm>
          <a:prstGeom prst="rect">
            <a:avLst/>
          </a:prstGeom>
          <a:noFill/>
        </p:spPr>
        <p:txBody>
          <a:bodyPr wrap="square" anchor="t" lIns="0" rIns="0" tIns="0" bIns="0">
            <a:noAutofit/>
          </a:bodyPr>
          <a:lstStyle/>
          <a:p>
            <a:pPr algn="l"/>
            <a:r>
              <a:rPr sz="950" b="1" i="0">
                <a:solidFill>
                  <a:srgbClr val="20B14A"/>
                </a:solidFill>
                <a:latin typeface="Figtree"/>
              </a:rPr>
              <a:t>▲ [+X.X%] </a:t>
            </a:r>
            <a:r>
              <a:rPr sz="800" b="0" i="0" spc="100">
                <a:solidFill>
                  <a:srgbClr val="8E8CA5"/>
                </a:solidFill>
                <a:latin typeface="Figtree"/>
              </a:rPr>
              <a:t>VS LAST MONTH</a:t>
            </a:r>
          </a:p>
        </p:txBody>
      </p:sp>
      <p:sp>
        <p:nvSpPr>
          <p:cNvPr id="30" name="Rounded Rectangle 29"/>
          <p:cNvSpPr/>
          <p:nvPr/>
        </p:nvSpPr>
        <p:spPr>
          <a:xfrm>
            <a:off x="502920" y="3886200"/>
            <a:ext cx="11185855" cy="1508760"/>
          </a:xfrm>
          <a:prstGeom prst="roundRect">
            <a:avLst>
              <a:gd name="adj" fmla="val 9000"/>
            </a:avLst>
          </a:prstGeom>
          <a:solidFill>
            <a:srgbClr val="0400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glyph_yellow.png"/>
          <p:cNvPicPr>
            <a:picLocks noChangeAspect="1"/>
          </p:cNvPicPr>
          <p:nvPr/>
        </p:nvPicPr>
        <p:blipFill>
          <a:blip r:embed="rId4"/>
          <a:stretch>
            <a:fillRect/>
          </a:stretch>
        </p:blipFill>
        <p:spPr>
          <a:xfrm>
            <a:off x="841248" y="4224528"/>
            <a:ext cx="310896" cy="310896"/>
          </a:xfrm>
          <a:prstGeom prst="rect">
            <a:avLst/>
          </a:prstGeom>
        </p:spPr>
      </p:pic>
      <p:sp>
        <p:nvSpPr>
          <p:cNvPr id="32" name="TextBox 31"/>
          <p:cNvSpPr txBox="1"/>
          <p:nvPr/>
        </p:nvSpPr>
        <p:spPr>
          <a:xfrm>
            <a:off x="1325880" y="4114800"/>
            <a:ext cx="10058400" cy="274320"/>
          </a:xfrm>
          <a:prstGeom prst="rect">
            <a:avLst/>
          </a:prstGeom>
          <a:noFill/>
        </p:spPr>
        <p:txBody>
          <a:bodyPr wrap="square" anchor="t" lIns="0" rIns="0" tIns="0" bIns="0">
            <a:noAutofit/>
          </a:bodyPr>
          <a:lstStyle/>
          <a:p>
            <a:pPr algn="l"/>
            <a:r>
              <a:rPr sz="1000" b="1" i="0" spc="300">
                <a:solidFill>
                  <a:srgbClr val="FFDA00"/>
                </a:solidFill>
                <a:latin typeface="Figtree"/>
              </a:rPr>
              <a:t>HEADLINE INSIGHT</a:t>
            </a:r>
          </a:p>
        </p:txBody>
      </p:sp>
      <p:sp>
        <p:nvSpPr>
          <p:cNvPr id="33" name="TextBox 32"/>
          <p:cNvSpPr txBox="1"/>
          <p:nvPr/>
        </p:nvSpPr>
        <p:spPr>
          <a:xfrm>
            <a:off x="1325880" y="4407408"/>
            <a:ext cx="10012680" cy="868680"/>
          </a:xfrm>
          <a:prstGeom prst="rect">
            <a:avLst/>
          </a:prstGeom>
          <a:noFill/>
        </p:spPr>
        <p:txBody>
          <a:bodyPr wrap="square" anchor="t" lIns="0" rIns="0" tIns="0" bIns="0">
            <a:noAutofit/>
          </a:bodyPr>
          <a:lstStyle/>
          <a:p>
            <a:pPr algn="l">
              <a:lnSpc>
                <a:spcPct val="115000"/>
              </a:lnSpc>
            </a:pPr>
            <a:r>
              <a:rPr sz="1650" b="0" i="0">
                <a:solidFill>
                  <a:srgbClr val="FFFFFF"/>
                </a:solidFill>
                <a:latin typeface="Figtree"/>
              </a:rPr>
              <a:t>[INSIGHT — the one sentence Kiabi HQ should remember from this report.]</a:t>
            </a:r>
          </a:p>
        </p:txBody>
      </p:sp>
      <p:sp>
        <p:nvSpPr>
          <p:cNvPr id="34" name="TextBox 33"/>
          <p:cNvSpPr txBox="1"/>
          <p:nvPr/>
        </p:nvSpPr>
        <p:spPr>
          <a:xfrm>
            <a:off x="502920" y="5596128"/>
            <a:ext cx="11155680" cy="365760"/>
          </a:xfrm>
          <a:prstGeom prst="rect">
            <a:avLst/>
          </a:prstGeom>
          <a:noFill/>
        </p:spPr>
        <p:txBody>
          <a:bodyPr wrap="square" anchor="t" lIns="0" rIns="0" tIns="0" bIns="0">
            <a:noAutofit/>
          </a:bodyPr>
          <a:lstStyle/>
          <a:p>
            <a:pPr algn="l"/>
            <a:r>
              <a:rPr sz="1050" b="1" i="0">
                <a:solidFill>
                  <a:srgbClr val="040037"/>
                </a:solidFill>
                <a:latin typeface="Figtree"/>
              </a:rPr>
              <a:t>Context — </a:t>
            </a:r>
            <a:r>
              <a:rPr sz="1050" b="0" i="0">
                <a:solidFill>
                  <a:srgbClr val="4F4C73"/>
                </a:solidFill>
                <a:latin typeface="Figtree"/>
              </a:rPr>
              <a:t>[Optional supporting fact, proof point or caveat for the headline above.]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an_light.png"/>
          <p:cNvPicPr>
            <a:picLocks noChangeAspect="1"/>
          </p:cNvPicPr>
          <p:nvPr/>
        </p:nvPicPr>
        <p:blipFill>
          <a:blip r:embed="rId2"/>
          <a:stretch>
            <a:fillRect/>
          </a:stretch>
        </p:blipFill>
        <p:spPr>
          <a:xfrm>
            <a:off x="10271455" y="0"/>
            <a:ext cx="1920240" cy="1920240"/>
          </a:xfrm>
          <a:prstGeom prst="rect">
            <a:avLst/>
          </a:prstGeom>
        </p:spPr>
      </p:pic>
      <p:pic>
        <p:nvPicPr>
          <p:cNvPr id="3" name="Picture 2" descr="glyph_green.png"/>
          <p:cNvPicPr>
            <a:picLocks noChangeAspect="1"/>
          </p:cNvPicPr>
          <p:nvPr/>
        </p:nvPicPr>
        <p:blipFill>
          <a:blip r:embed="rId3"/>
          <a:stretch>
            <a:fillRect/>
          </a:stretch>
        </p:blipFill>
        <p:spPr>
          <a:xfrm>
            <a:off x="502920" y="512064"/>
            <a:ext cx="274320" cy="274320"/>
          </a:xfrm>
          <a:prstGeom prst="rect">
            <a:avLst/>
          </a:prstGeom>
        </p:spPr>
      </p:pic>
      <p:sp>
        <p:nvSpPr>
          <p:cNvPr id="4" name="TextBox 3"/>
          <p:cNvSpPr txBox="1"/>
          <p:nvPr/>
        </p:nvSpPr>
        <p:spPr>
          <a:xfrm>
            <a:off x="886968" y="429768"/>
            <a:ext cx="9144000" cy="274320"/>
          </a:xfrm>
          <a:prstGeom prst="rect">
            <a:avLst/>
          </a:prstGeom>
          <a:noFill/>
        </p:spPr>
        <p:txBody>
          <a:bodyPr wrap="square" anchor="t" lIns="0" rIns="0" tIns="0" bIns="0">
            <a:noAutofit/>
          </a:bodyPr>
          <a:lstStyle/>
          <a:p>
            <a:pPr algn="l"/>
            <a:r>
              <a:rPr sz="1050" b="1" i="0" spc="280">
                <a:solidFill>
                  <a:srgbClr val="20B14A"/>
                </a:solidFill>
                <a:latin typeface="Figtree"/>
              </a:rPr>
              <a:t>03 — PANORAMA DU MARCHÉ · PANORAMA DEL MERCADO</a:t>
            </a:r>
          </a:p>
        </p:txBody>
      </p:sp>
      <p:sp>
        <p:nvSpPr>
          <p:cNvPr id="5" name="TextBox 4"/>
          <p:cNvSpPr txBox="1"/>
          <p:nvPr/>
        </p:nvSpPr>
        <p:spPr>
          <a:xfrm>
            <a:off x="868680" y="676656"/>
            <a:ext cx="9601200" cy="594360"/>
          </a:xfrm>
          <a:prstGeom prst="rect">
            <a:avLst/>
          </a:prstGeom>
          <a:noFill/>
        </p:spPr>
        <p:txBody>
          <a:bodyPr wrap="square" anchor="t" lIns="0" rIns="0" tIns="0" bIns="0">
            <a:noAutofit/>
          </a:bodyPr>
          <a:lstStyle/>
          <a:p>
            <a:pPr algn="l"/>
            <a:r>
              <a:rPr sz="2700" b="1" i="0">
                <a:solidFill>
                  <a:srgbClr val="040037"/>
                </a:solidFill>
                <a:latin typeface="Figtree"/>
              </a:rPr>
              <a:t>Market Snapshot</a:t>
            </a:r>
          </a:p>
        </p:txBody>
      </p:sp>
      <p:cxnSp>
        <p:nvCxnSpPr>
          <p:cNvPr id="6" name="Connector 5"/>
          <p:cNvCxnSpPr/>
          <p:nvPr/>
        </p:nvCxnSpPr>
        <p:spPr>
          <a:xfrm>
            <a:off x="502920" y="1389888"/>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73952"/>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47104"/>
            <a:ext cx="5486400" cy="274320"/>
          </a:xfrm>
          <a:prstGeom prst="rect">
            <a:avLst/>
          </a:prstGeom>
          <a:noFill/>
        </p:spPr>
        <p:txBody>
          <a:bodyPr wrap="square" anchor="t" lIns="0" rIns="0" tIns="0" bIns="0">
            <a:noAutofit/>
          </a:bodyPr>
          <a:lstStyle/>
          <a:p>
            <a:pPr algn="l"/>
            <a:r>
              <a:rPr sz="750" b="1" i="0" spc="200">
                <a:solidFill>
                  <a:srgbClr val="8E8CA5"/>
                </a:solidFill>
                <a:latin typeface="Figtree"/>
              </a:rPr>
              <a:t>GRUPO ONE × KIABI</a:t>
            </a:r>
            <a:r>
              <a:rPr sz="750" b="0" i="0" spc="200">
                <a:solidFill>
                  <a:srgbClr val="8E8CA5"/>
                </a:solidFill>
                <a:latin typeface="Figtree"/>
              </a:rPr>
              <a:t>   ·   CONFIDENTIAL — FOR KIABI HQ</a:t>
            </a:r>
          </a:p>
        </p:txBody>
      </p:sp>
      <p:sp>
        <p:nvSpPr>
          <p:cNvPr id="9" name="TextBox 8"/>
          <p:cNvSpPr txBox="1"/>
          <p:nvPr/>
        </p:nvSpPr>
        <p:spPr>
          <a:xfrm>
            <a:off x="8031175" y="6547104"/>
            <a:ext cx="3657600" cy="274320"/>
          </a:xfrm>
          <a:prstGeom prst="rect">
            <a:avLst/>
          </a:prstGeom>
          <a:noFill/>
        </p:spPr>
        <p:txBody>
          <a:bodyPr wrap="square" anchor="t" lIns="0" rIns="0" tIns="0" bIns="0">
            <a:noAutofit/>
          </a:bodyPr>
          <a:lstStyle/>
          <a:p>
            <a:pPr algn="r"/>
            <a:r>
              <a:rPr sz="750" b="0" i="0" spc="200">
                <a:solidFill>
                  <a:srgbClr val="8E8CA5"/>
                </a:solidFill>
                <a:latin typeface="Figtree"/>
              </a:rPr>
              <a:t>[MONTH YEAR]   ·   </a:t>
            </a:r>
            <a:r>
              <a:rPr sz="750" b="1" i="0" spc="200">
                <a:solidFill>
                  <a:srgbClr val="8E8CA5"/>
                </a:solidFill>
                <a:latin typeface="Figtree"/>
              </a:rPr>
              <a:t>03 / 10</a:t>
            </a:r>
          </a:p>
        </p:txBody>
      </p:sp>
      <p:sp>
        <p:nvSpPr>
          <p:cNvPr id="10" name="TextBox 9"/>
          <p:cNvSpPr txBox="1"/>
          <p:nvPr/>
        </p:nvSpPr>
        <p:spPr>
          <a:xfrm>
            <a:off x="502920" y="1664208"/>
            <a:ext cx="5760720" cy="365760"/>
          </a:xfrm>
          <a:prstGeom prst="rect">
            <a:avLst/>
          </a:prstGeom>
          <a:noFill/>
        </p:spPr>
        <p:txBody>
          <a:bodyPr wrap="square" anchor="t" lIns="0" rIns="0" tIns="0" bIns="0">
            <a:noAutofit/>
          </a:bodyPr>
          <a:lstStyle/>
          <a:p>
            <a:pPr algn="l"/>
            <a:r>
              <a:rPr sz="1450" b="1" i="0">
                <a:solidFill>
                  <a:srgbClr val="040037"/>
                </a:solidFill>
                <a:latin typeface="Figtree"/>
              </a:rPr>
              <a:t>Argentina retail &amp; fashion context</a:t>
            </a:r>
          </a:p>
        </p:txBody>
      </p:sp>
      <p:sp>
        <p:nvSpPr>
          <p:cNvPr id="11" name="TextBox 10"/>
          <p:cNvSpPr txBox="1"/>
          <p:nvPr/>
        </p:nvSpPr>
        <p:spPr>
          <a:xfrm>
            <a:off x="502920" y="2148840"/>
            <a:ext cx="5760720" cy="2377440"/>
          </a:xfrm>
          <a:prstGeom prst="rect">
            <a:avLst/>
          </a:prstGeom>
          <a:noFill/>
        </p:spPr>
        <p:txBody>
          <a:bodyPr wrap="square" anchor="t" lIns="0" rIns="0" tIns="0" bIns="0">
            <a:noAutofit/>
          </a:bodyPr>
          <a:lstStyle/>
          <a:p>
            <a:pPr algn="l">
              <a:lnSpc>
                <a:spcPct val="115000"/>
              </a:lnSpc>
              <a:spcAft>
                <a:spcPts val="1200"/>
              </a:spcAft>
            </a:pPr>
            <a:r>
              <a:rPr sz="1200" b="1" i="0">
                <a:solidFill>
                  <a:srgbClr val="20B14A"/>
                </a:solidFill>
                <a:latin typeface="Figtree"/>
              </a:rPr>
              <a:t>—  </a:t>
            </a:r>
            <a:r>
              <a:rPr sz="1200" b="0" i="0">
                <a:solidFill>
                  <a:srgbClr val="4F4C73"/>
                </a:solidFill>
                <a:latin typeface="Figtree"/>
              </a:rPr>
              <a:t>[CONTEXT 1 — macro: inflation, FX, consumer purchasing power.]</a:t>
            </a:r>
          </a:p>
          <a:p>
            <a:pPr algn="l">
              <a:lnSpc>
                <a:spcPct val="115000"/>
              </a:lnSpc>
              <a:spcAft>
                <a:spcPts val="1200"/>
              </a:spcAft>
            </a:pPr>
            <a:r>
              <a:rPr sz="1200" b="1" i="0">
                <a:solidFill>
                  <a:srgbClr val="20B14A"/>
                </a:solidFill>
                <a:latin typeface="Figtree"/>
              </a:rPr>
              <a:t>—  </a:t>
            </a:r>
            <a:r>
              <a:rPr sz="1200" b="0" i="0">
                <a:solidFill>
                  <a:srgbClr val="4F4C73"/>
                </a:solidFill>
                <a:latin typeface="Figtree"/>
              </a:rPr>
              <a:t>[CONTEXT 2 — retail: traffic, mall performance, promo intensity.]</a:t>
            </a:r>
          </a:p>
          <a:p>
            <a:pPr algn="l">
              <a:lnSpc>
                <a:spcPct val="115000"/>
              </a:lnSpc>
              <a:spcAft>
                <a:spcPts val="1200"/>
              </a:spcAft>
            </a:pPr>
            <a:r>
              <a:rPr sz="1200" b="1" i="0">
                <a:solidFill>
                  <a:srgbClr val="20B14A"/>
                </a:solidFill>
                <a:latin typeface="Figtree"/>
              </a:rPr>
              <a:t>—  </a:t>
            </a:r>
            <a:r>
              <a:rPr sz="1200" b="0" i="0">
                <a:solidFill>
                  <a:srgbClr val="4F4C73"/>
                </a:solidFill>
                <a:latin typeface="Figtree"/>
              </a:rPr>
              <a:t>[CONTEXT 3 — fashion: category trends, competitor moves.]</a:t>
            </a:r>
          </a:p>
          <a:p>
            <a:pPr algn="l">
              <a:lnSpc>
                <a:spcPct val="115000"/>
              </a:lnSpc>
              <a:spcAft>
                <a:spcPts val="1200"/>
              </a:spcAft>
            </a:pPr>
            <a:r>
              <a:rPr sz="1200" b="1" i="0">
                <a:solidFill>
                  <a:srgbClr val="20B14A"/>
                </a:solidFill>
                <a:latin typeface="Figtree"/>
              </a:rPr>
              <a:t>—  </a:t>
            </a:r>
            <a:r>
              <a:rPr sz="1200" b="0" i="0">
                <a:solidFill>
                  <a:srgbClr val="4F4C73"/>
                </a:solidFill>
                <a:latin typeface="Figtree"/>
              </a:rPr>
              <a:t>[CONTEXT 4 — regulation / imports / pricing environment.]</a:t>
            </a:r>
          </a:p>
        </p:txBody>
      </p:sp>
      <p:sp>
        <p:nvSpPr>
          <p:cNvPr id="12" name="Rounded Rectangle 11"/>
          <p:cNvSpPr/>
          <p:nvPr/>
        </p:nvSpPr>
        <p:spPr>
          <a:xfrm>
            <a:off x="502920" y="4617720"/>
            <a:ext cx="5760720" cy="1188720"/>
          </a:xfrm>
          <a:prstGeom prst="roundRect">
            <a:avLst>
              <a:gd name="adj" fmla="val 10000"/>
            </a:avLst>
          </a:prstGeom>
          <a:solidFill>
            <a:srgbClr val="FFF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4617720"/>
            <a:ext cx="82296" cy="1188720"/>
          </a:xfrm>
          <a:prstGeom prst="rect">
            <a:avLst/>
          </a:prstGeom>
          <a:solidFill>
            <a:srgbClr val="FFD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73168"/>
            <a:ext cx="5303520" cy="274320"/>
          </a:xfrm>
          <a:prstGeom prst="rect">
            <a:avLst/>
          </a:prstGeom>
          <a:noFill/>
        </p:spPr>
        <p:txBody>
          <a:bodyPr wrap="square" anchor="t" lIns="0" rIns="0" tIns="0" bIns="0">
            <a:noAutofit/>
          </a:bodyPr>
          <a:lstStyle/>
          <a:p>
            <a:pPr algn="l"/>
            <a:r>
              <a:rPr sz="950" b="1" i="0" spc="300">
                <a:solidFill>
                  <a:srgbClr val="040037"/>
                </a:solidFill>
                <a:latin typeface="Figtree"/>
              </a:rPr>
              <a:t>WATCH THIS</a:t>
            </a:r>
          </a:p>
        </p:txBody>
      </p:sp>
      <p:sp>
        <p:nvSpPr>
          <p:cNvPr id="15" name="TextBox 14"/>
          <p:cNvSpPr txBox="1"/>
          <p:nvPr/>
        </p:nvSpPr>
        <p:spPr>
          <a:xfrm>
            <a:off x="777240" y="5047488"/>
            <a:ext cx="5257800" cy="685800"/>
          </a:xfrm>
          <a:prstGeom prst="rect">
            <a:avLst/>
          </a:prstGeom>
          <a:noFill/>
        </p:spPr>
        <p:txBody>
          <a:bodyPr wrap="square" anchor="t" lIns="0" rIns="0" tIns="0" bIns="0">
            <a:noAutofit/>
          </a:bodyPr>
          <a:lstStyle/>
          <a:p>
            <a:pPr algn="l">
              <a:lnSpc>
                <a:spcPct val="115000"/>
              </a:lnSpc>
            </a:pPr>
            <a:r>
              <a:rPr sz="1150" b="0" i="0">
                <a:solidFill>
                  <a:srgbClr val="4F4C73"/>
                </a:solidFill>
                <a:latin typeface="Figtree"/>
              </a:rPr>
              <a:t>[MARKET SIGNAL — one emerging trend or risk HQ should keep on its radar.]</a:t>
            </a:r>
          </a:p>
        </p:txBody>
      </p:sp>
      <p:sp>
        <p:nvSpPr>
          <p:cNvPr id="16" name="Rounded Rectangle 15"/>
          <p:cNvSpPr/>
          <p:nvPr/>
        </p:nvSpPr>
        <p:spPr>
          <a:xfrm>
            <a:off x="6675120" y="1691640"/>
            <a:ext cx="5010912" cy="1261872"/>
          </a:xfrm>
          <a:prstGeom prst="roundRect">
            <a:avLst>
              <a:gd name="adj" fmla="val 9000"/>
            </a:avLst>
          </a:prstGeom>
          <a:solidFill>
            <a:srgbClr val="ED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675120" y="1691640"/>
            <a:ext cx="82296" cy="1261872"/>
          </a:xfrm>
          <a:prstGeom prst="rect">
            <a:avLst/>
          </a:prstGeom>
          <a:solidFill>
            <a:srgbClr val="20B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67728" y="1856232"/>
            <a:ext cx="1737360" cy="640080"/>
          </a:xfrm>
          <a:prstGeom prst="rect">
            <a:avLst/>
          </a:prstGeom>
          <a:noFill/>
        </p:spPr>
        <p:txBody>
          <a:bodyPr wrap="square" anchor="t" lIns="0" rIns="0" tIns="0" bIns="0">
            <a:noAutofit/>
          </a:bodyPr>
          <a:lstStyle/>
          <a:p>
            <a:pPr algn="l"/>
            <a:r>
              <a:rPr sz="2600" b="1" i="0">
                <a:solidFill>
                  <a:srgbClr val="040037"/>
                </a:solidFill>
                <a:latin typeface="Figtree"/>
              </a:rPr>
              <a:t>[X.X%]</a:t>
            </a:r>
          </a:p>
        </p:txBody>
      </p:sp>
      <p:sp>
        <p:nvSpPr>
          <p:cNvPr id="19" name="TextBox 18"/>
          <p:cNvSpPr txBox="1"/>
          <p:nvPr/>
        </p:nvSpPr>
        <p:spPr>
          <a:xfrm>
            <a:off x="8732520" y="1911095"/>
            <a:ext cx="2834640" cy="566928"/>
          </a:xfrm>
          <a:prstGeom prst="rect">
            <a:avLst/>
          </a:prstGeom>
          <a:noFill/>
        </p:spPr>
        <p:txBody>
          <a:bodyPr wrap="square" anchor="t" lIns="0" rIns="0" tIns="0" bIns="0">
            <a:noAutofit/>
          </a:bodyPr>
          <a:lstStyle/>
          <a:p>
            <a:pPr algn="l">
              <a:lnSpc>
                <a:spcPct val="110000"/>
              </a:lnSpc>
            </a:pPr>
            <a:r>
              <a:rPr sz="950" b="1" i="0">
                <a:solidFill>
                  <a:srgbClr val="4F4C73"/>
                </a:solidFill>
                <a:latin typeface="Figtree"/>
              </a:rPr>
              <a:t>[INDICATOR 1 — e.g. APPAREL MARKET YoY]</a:t>
            </a:r>
          </a:p>
        </p:txBody>
      </p:sp>
      <p:sp>
        <p:nvSpPr>
          <p:cNvPr id="20" name="TextBox 19"/>
          <p:cNvSpPr txBox="1"/>
          <p:nvPr/>
        </p:nvSpPr>
        <p:spPr>
          <a:xfrm>
            <a:off x="8732520" y="2532888"/>
            <a:ext cx="2834640" cy="274320"/>
          </a:xfrm>
          <a:prstGeom prst="rect">
            <a:avLst/>
          </a:prstGeom>
          <a:noFill/>
        </p:spPr>
        <p:txBody>
          <a:bodyPr wrap="square" anchor="t" lIns="0" rIns="0" tIns="0" bIns="0">
            <a:noAutofit/>
          </a:bodyPr>
          <a:lstStyle/>
          <a:p>
            <a:pPr algn="l"/>
            <a:r>
              <a:rPr sz="750" b="0" i="0" spc="80">
                <a:solidFill>
                  <a:srgbClr val="8E8CA5"/>
                </a:solidFill>
                <a:latin typeface="Figtree"/>
              </a:rPr>
              <a:t>SOURCE: [INDEC / CAME / KANTAR] · [DATE]</a:t>
            </a:r>
          </a:p>
        </p:txBody>
      </p:sp>
      <p:sp>
        <p:nvSpPr>
          <p:cNvPr id="21" name="Rounded Rectangle 20"/>
          <p:cNvSpPr/>
          <p:nvPr/>
        </p:nvSpPr>
        <p:spPr>
          <a:xfrm>
            <a:off x="6675120" y="3108960"/>
            <a:ext cx="5010912" cy="1261872"/>
          </a:xfrm>
          <a:prstGeom prst="roundRect">
            <a:avLst>
              <a:gd name="adj" fmla="val 9000"/>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675120" y="3108960"/>
            <a:ext cx="82296" cy="1261872"/>
          </a:xfrm>
          <a:prstGeom prst="rect">
            <a:avLst/>
          </a:prstGeom>
          <a:solidFill>
            <a:srgbClr val="006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3273552"/>
            <a:ext cx="1737360" cy="640080"/>
          </a:xfrm>
          <a:prstGeom prst="rect">
            <a:avLst/>
          </a:prstGeom>
          <a:noFill/>
        </p:spPr>
        <p:txBody>
          <a:bodyPr wrap="square" anchor="t" lIns="0" rIns="0" tIns="0" bIns="0">
            <a:noAutofit/>
          </a:bodyPr>
          <a:lstStyle/>
          <a:p>
            <a:pPr algn="l"/>
            <a:r>
              <a:rPr sz="2600" b="1" i="0">
                <a:solidFill>
                  <a:srgbClr val="040037"/>
                </a:solidFill>
                <a:latin typeface="Figtree"/>
              </a:rPr>
              <a:t>[X.X%]</a:t>
            </a:r>
          </a:p>
        </p:txBody>
      </p:sp>
      <p:sp>
        <p:nvSpPr>
          <p:cNvPr id="24" name="TextBox 23"/>
          <p:cNvSpPr txBox="1"/>
          <p:nvPr/>
        </p:nvSpPr>
        <p:spPr>
          <a:xfrm>
            <a:off x="8732520" y="3328416"/>
            <a:ext cx="2834640" cy="566928"/>
          </a:xfrm>
          <a:prstGeom prst="rect">
            <a:avLst/>
          </a:prstGeom>
          <a:noFill/>
        </p:spPr>
        <p:txBody>
          <a:bodyPr wrap="square" anchor="t" lIns="0" rIns="0" tIns="0" bIns="0">
            <a:noAutofit/>
          </a:bodyPr>
          <a:lstStyle/>
          <a:p>
            <a:pPr algn="l">
              <a:lnSpc>
                <a:spcPct val="110000"/>
              </a:lnSpc>
            </a:pPr>
            <a:r>
              <a:rPr sz="950" b="1" i="0">
                <a:solidFill>
                  <a:srgbClr val="4F4C73"/>
                </a:solidFill>
                <a:latin typeface="Figtree"/>
              </a:rPr>
              <a:t>[INDICATOR 2 — e.g. CPI / FASHION INFLATION]</a:t>
            </a:r>
          </a:p>
        </p:txBody>
      </p:sp>
      <p:sp>
        <p:nvSpPr>
          <p:cNvPr id="25" name="TextBox 24"/>
          <p:cNvSpPr txBox="1"/>
          <p:nvPr/>
        </p:nvSpPr>
        <p:spPr>
          <a:xfrm>
            <a:off x="8732520" y="3950208"/>
            <a:ext cx="2834640" cy="274320"/>
          </a:xfrm>
          <a:prstGeom prst="rect">
            <a:avLst/>
          </a:prstGeom>
          <a:noFill/>
        </p:spPr>
        <p:txBody>
          <a:bodyPr wrap="square" anchor="t" lIns="0" rIns="0" tIns="0" bIns="0">
            <a:noAutofit/>
          </a:bodyPr>
          <a:lstStyle/>
          <a:p>
            <a:pPr algn="l"/>
            <a:r>
              <a:rPr sz="750" b="0" i="0" spc="80">
                <a:solidFill>
                  <a:srgbClr val="8E8CA5"/>
                </a:solidFill>
                <a:latin typeface="Figtree"/>
              </a:rPr>
              <a:t>SOURCE: [INDEC / CAME / KANTAR] · [DATE]</a:t>
            </a:r>
          </a:p>
        </p:txBody>
      </p:sp>
      <p:sp>
        <p:nvSpPr>
          <p:cNvPr id="26" name="Rounded Rectangle 25"/>
          <p:cNvSpPr/>
          <p:nvPr/>
        </p:nvSpPr>
        <p:spPr>
          <a:xfrm>
            <a:off x="6675120" y="4526280"/>
            <a:ext cx="5010912" cy="1261872"/>
          </a:xfrm>
          <a:prstGeom prst="roundRect">
            <a:avLst>
              <a:gd name="adj" fmla="val 9000"/>
            </a:avLst>
          </a:prstGeom>
          <a:solidFill>
            <a:srgbClr val="FE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675120" y="4526280"/>
            <a:ext cx="82296" cy="1261872"/>
          </a:xfrm>
          <a:prstGeom prst="rect">
            <a:avLst/>
          </a:prstGeom>
          <a:solidFill>
            <a:srgbClr val="FB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7728" y="4690872"/>
            <a:ext cx="1737360" cy="640080"/>
          </a:xfrm>
          <a:prstGeom prst="rect">
            <a:avLst/>
          </a:prstGeom>
          <a:noFill/>
        </p:spPr>
        <p:txBody>
          <a:bodyPr wrap="square" anchor="t" lIns="0" rIns="0" tIns="0" bIns="0">
            <a:noAutofit/>
          </a:bodyPr>
          <a:lstStyle/>
          <a:p>
            <a:pPr algn="l"/>
            <a:r>
              <a:rPr sz="2600" b="1" i="0">
                <a:solidFill>
                  <a:srgbClr val="040037"/>
                </a:solidFill>
                <a:latin typeface="Figtree"/>
              </a:rPr>
              <a:t>[X.X%]</a:t>
            </a:r>
          </a:p>
        </p:txBody>
      </p:sp>
      <p:sp>
        <p:nvSpPr>
          <p:cNvPr id="29" name="TextBox 28"/>
          <p:cNvSpPr txBox="1"/>
          <p:nvPr/>
        </p:nvSpPr>
        <p:spPr>
          <a:xfrm>
            <a:off x="8732520" y="4745736"/>
            <a:ext cx="2834640" cy="566928"/>
          </a:xfrm>
          <a:prstGeom prst="rect">
            <a:avLst/>
          </a:prstGeom>
          <a:noFill/>
        </p:spPr>
        <p:txBody>
          <a:bodyPr wrap="square" anchor="t" lIns="0" rIns="0" tIns="0" bIns="0">
            <a:noAutofit/>
          </a:bodyPr>
          <a:lstStyle/>
          <a:p>
            <a:pPr algn="l">
              <a:lnSpc>
                <a:spcPct val="110000"/>
              </a:lnSpc>
            </a:pPr>
            <a:r>
              <a:rPr sz="950" b="1" i="0">
                <a:solidFill>
                  <a:srgbClr val="4F4C73"/>
                </a:solidFill>
                <a:latin typeface="Figtree"/>
              </a:rPr>
              <a:t>[INDICATOR 3 — e.g. E-COMMERCE SHARE]</a:t>
            </a:r>
          </a:p>
        </p:txBody>
      </p:sp>
      <p:sp>
        <p:nvSpPr>
          <p:cNvPr id="30" name="TextBox 29"/>
          <p:cNvSpPr txBox="1"/>
          <p:nvPr/>
        </p:nvSpPr>
        <p:spPr>
          <a:xfrm>
            <a:off x="8732520" y="5367528"/>
            <a:ext cx="2834640" cy="274320"/>
          </a:xfrm>
          <a:prstGeom prst="rect">
            <a:avLst/>
          </a:prstGeom>
          <a:noFill/>
        </p:spPr>
        <p:txBody>
          <a:bodyPr wrap="square" anchor="t" lIns="0" rIns="0" tIns="0" bIns="0">
            <a:noAutofit/>
          </a:bodyPr>
          <a:lstStyle/>
          <a:p>
            <a:pPr algn="l"/>
            <a:r>
              <a:rPr sz="750" b="0" i="0" spc="80">
                <a:solidFill>
                  <a:srgbClr val="8E8CA5"/>
                </a:solidFill>
                <a:latin typeface="Figtree"/>
              </a:rPr>
              <a:t>SOURCE: [INDEC / CAME / KANTAR] · [DATE]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an_light.png"/>
          <p:cNvPicPr>
            <a:picLocks noChangeAspect="1"/>
          </p:cNvPicPr>
          <p:nvPr/>
        </p:nvPicPr>
        <p:blipFill>
          <a:blip r:embed="rId2"/>
          <a:stretch>
            <a:fillRect/>
          </a:stretch>
        </p:blipFill>
        <p:spPr>
          <a:xfrm>
            <a:off x="10271455" y="0"/>
            <a:ext cx="1920240" cy="1920240"/>
          </a:xfrm>
          <a:prstGeom prst="rect">
            <a:avLst/>
          </a:prstGeom>
        </p:spPr>
      </p:pic>
      <p:pic>
        <p:nvPicPr>
          <p:cNvPr id="3" name="Picture 2" descr="glyph_orange.png"/>
          <p:cNvPicPr>
            <a:picLocks noChangeAspect="1"/>
          </p:cNvPicPr>
          <p:nvPr/>
        </p:nvPicPr>
        <p:blipFill>
          <a:blip r:embed="rId3"/>
          <a:stretch>
            <a:fillRect/>
          </a:stretch>
        </p:blipFill>
        <p:spPr>
          <a:xfrm>
            <a:off x="502920" y="512064"/>
            <a:ext cx="274320" cy="274320"/>
          </a:xfrm>
          <a:prstGeom prst="rect">
            <a:avLst/>
          </a:prstGeom>
        </p:spPr>
      </p:pic>
      <p:sp>
        <p:nvSpPr>
          <p:cNvPr id="4" name="TextBox 3"/>
          <p:cNvSpPr txBox="1"/>
          <p:nvPr/>
        </p:nvSpPr>
        <p:spPr>
          <a:xfrm>
            <a:off x="886968" y="429768"/>
            <a:ext cx="9144000" cy="274320"/>
          </a:xfrm>
          <a:prstGeom prst="rect">
            <a:avLst/>
          </a:prstGeom>
          <a:noFill/>
        </p:spPr>
        <p:txBody>
          <a:bodyPr wrap="square" anchor="t" lIns="0" rIns="0" tIns="0" bIns="0">
            <a:noAutofit/>
          </a:bodyPr>
          <a:lstStyle/>
          <a:p>
            <a:pPr algn="l"/>
            <a:r>
              <a:rPr sz="1050" b="1" i="0" spc="280">
                <a:solidFill>
                  <a:srgbClr val="FB5B00"/>
                </a:solidFill>
                <a:latin typeface="Figtree"/>
              </a:rPr>
              <a:t>04 — LANCEMENT · AVANCE DEL LANZAMIENTO</a:t>
            </a:r>
          </a:p>
        </p:txBody>
      </p:sp>
      <p:sp>
        <p:nvSpPr>
          <p:cNvPr id="5" name="TextBox 4"/>
          <p:cNvSpPr txBox="1"/>
          <p:nvPr/>
        </p:nvSpPr>
        <p:spPr>
          <a:xfrm>
            <a:off x="868680" y="676656"/>
            <a:ext cx="9601200" cy="594360"/>
          </a:xfrm>
          <a:prstGeom prst="rect">
            <a:avLst/>
          </a:prstGeom>
          <a:noFill/>
        </p:spPr>
        <p:txBody>
          <a:bodyPr wrap="square" anchor="t" lIns="0" rIns="0" tIns="0" bIns="0">
            <a:noAutofit/>
          </a:bodyPr>
          <a:lstStyle/>
          <a:p>
            <a:pPr algn="l"/>
            <a:r>
              <a:rPr sz="2700" b="1" i="0">
                <a:solidFill>
                  <a:srgbClr val="040037"/>
                </a:solidFill>
                <a:latin typeface="Figtree"/>
              </a:rPr>
              <a:t>Brand Launch Progress</a:t>
            </a:r>
          </a:p>
        </p:txBody>
      </p:sp>
      <p:cxnSp>
        <p:nvCxnSpPr>
          <p:cNvPr id="6" name="Connector 5"/>
          <p:cNvCxnSpPr/>
          <p:nvPr/>
        </p:nvCxnSpPr>
        <p:spPr>
          <a:xfrm>
            <a:off x="502920" y="1389888"/>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73952"/>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47104"/>
            <a:ext cx="5486400" cy="274320"/>
          </a:xfrm>
          <a:prstGeom prst="rect">
            <a:avLst/>
          </a:prstGeom>
          <a:noFill/>
        </p:spPr>
        <p:txBody>
          <a:bodyPr wrap="square" anchor="t" lIns="0" rIns="0" tIns="0" bIns="0">
            <a:noAutofit/>
          </a:bodyPr>
          <a:lstStyle/>
          <a:p>
            <a:pPr algn="l"/>
            <a:r>
              <a:rPr sz="750" b="1" i="0" spc="200">
                <a:solidFill>
                  <a:srgbClr val="8E8CA5"/>
                </a:solidFill>
                <a:latin typeface="Figtree"/>
              </a:rPr>
              <a:t>GRUPO ONE × KIABI</a:t>
            </a:r>
            <a:r>
              <a:rPr sz="750" b="0" i="0" spc="200">
                <a:solidFill>
                  <a:srgbClr val="8E8CA5"/>
                </a:solidFill>
                <a:latin typeface="Figtree"/>
              </a:rPr>
              <a:t>   ·   CONFIDENTIAL — FOR KIABI HQ</a:t>
            </a:r>
          </a:p>
        </p:txBody>
      </p:sp>
      <p:sp>
        <p:nvSpPr>
          <p:cNvPr id="9" name="TextBox 8"/>
          <p:cNvSpPr txBox="1"/>
          <p:nvPr/>
        </p:nvSpPr>
        <p:spPr>
          <a:xfrm>
            <a:off x="8031175" y="6547104"/>
            <a:ext cx="3657600" cy="274320"/>
          </a:xfrm>
          <a:prstGeom prst="rect">
            <a:avLst/>
          </a:prstGeom>
          <a:noFill/>
        </p:spPr>
        <p:txBody>
          <a:bodyPr wrap="square" anchor="t" lIns="0" rIns="0" tIns="0" bIns="0">
            <a:noAutofit/>
          </a:bodyPr>
          <a:lstStyle/>
          <a:p>
            <a:pPr algn="r"/>
            <a:r>
              <a:rPr sz="750" b="0" i="0" spc="200">
                <a:solidFill>
                  <a:srgbClr val="8E8CA5"/>
                </a:solidFill>
                <a:latin typeface="Figtree"/>
              </a:rPr>
              <a:t>[MONTH YEAR]   ·   </a:t>
            </a:r>
            <a:r>
              <a:rPr sz="750" b="1" i="0" spc="200">
                <a:solidFill>
                  <a:srgbClr val="8E8CA5"/>
                </a:solidFill>
                <a:latin typeface="Figtree"/>
              </a:rPr>
              <a:t>04 / 10</a:t>
            </a:r>
          </a:p>
        </p:txBody>
      </p:sp>
      <p:sp>
        <p:nvSpPr>
          <p:cNvPr id="10" name="TextBox 9"/>
          <p:cNvSpPr txBox="1"/>
          <p:nvPr/>
        </p:nvSpPr>
        <p:spPr>
          <a:xfrm>
            <a:off x="7498079" y="1627632"/>
            <a:ext cx="4187952" cy="274320"/>
          </a:xfrm>
          <a:prstGeom prst="rect">
            <a:avLst/>
          </a:prstGeom>
          <a:noFill/>
        </p:spPr>
        <p:txBody>
          <a:bodyPr wrap="square" anchor="t" lIns="0" rIns="0" tIns="0" bIns="0">
            <a:noAutofit/>
          </a:bodyPr>
          <a:lstStyle/>
          <a:p>
            <a:pPr algn="r"/>
            <a:r>
              <a:rPr sz="1100" b="0" i="0">
                <a:solidFill>
                  <a:srgbClr val="20B14A"/>
                </a:solidFill>
                <a:latin typeface="Figtree"/>
              </a:rPr>
              <a:t>●</a:t>
            </a:r>
            <a:r>
              <a:rPr sz="850" b="0" i="0" spc="100">
                <a:solidFill>
                  <a:srgbClr val="4F4C73"/>
                </a:solidFill>
                <a:latin typeface="Figtree"/>
              </a:rPr>
              <a:t> COMPLETED    </a:t>
            </a:r>
            <a:r>
              <a:rPr sz="1100" b="0" i="0">
                <a:solidFill>
                  <a:srgbClr val="FFDA00"/>
                </a:solidFill>
                <a:latin typeface="Figtree"/>
              </a:rPr>
              <a:t>●</a:t>
            </a:r>
            <a:r>
              <a:rPr sz="850" b="0" i="0" spc="100">
                <a:solidFill>
                  <a:srgbClr val="4F4C73"/>
                </a:solidFill>
                <a:latin typeface="Figtree"/>
              </a:rPr>
              <a:t> IN PROGRESS    </a:t>
            </a:r>
            <a:r>
              <a:rPr sz="1100" b="0" i="0">
                <a:solidFill>
                  <a:srgbClr val="D9D8E1"/>
                </a:solidFill>
                <a:latin typeface="Figtree"/>
              </a:rPr>
              <a:t>●</a:t>
            </a:r>
            <a:r>
              <a:rPr sz="850" b="0" i="0" spc="100">
                <a:solidFill>
                  <a:srgbClr val="4F4C73"/>
                </a:solidFill>
                <a:latin typeface="Figtree"/>
              </a:rPr>
              <a:t> UPCOMING</a:t>
            </a:r>
          </a:p>
        </p:txBody>
      </p:sp>
      <p:cxnSp>
        <p:nvCxnSpPr>
          <p:cNvPr id="11" name="Connector 10"/>
          <p:cNvCxnSpPr/>
          <p:nvPr/>
        </p:nvCxnSpPr>
        <p:spPr>
          <a:xfrm>
            <a:off x="822960" y="3611880"/>
            <a:ext cx="10515600" cy="0"/>
          </a:xfrm>
          <a:prstGeom prst="line">
            <a:avLst/>
          </a:prstGeom>
          <a:ln w="31750">
            <a:solidFill>
              <a:srgbClr val="D9D8E1"/>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22960" y="3611880"/>
            <a:ext cx="4846320" cy="0"/>
          </a:xfrm>
          <a:prstGeom prst="line">
            <a:avLst/>
          </a:prstGeom>
          <a:ln w="31750">
            <a:solidFill>
              <a:srgbClr val="20B14A"/>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960120" y="3474720"/>
            <a:ext cx="274320" cy="274320"/>
          </a:xfrm>
          <a:prstGeom prst="ellipse">
            <a:avLst/>
          </a:prstGeom>
          <a:solidFill>
            <a:srgbClr val="20B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42415" y="3557016"/>
            <a:ext cx="109728" cy="1097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59" y="2331720"/>
            <a:ext cx="1920240" cy="502920"/>
          </a:xfrm>
          <a:prstGeom prst="rect">
            <a:avLst/>
          </a:prstGeom>
          <a:noFill/>
        </p:spPr>
        <p:txBody>
          <a:bodyPr wrap="square" anchor="t" lIns="0" rIns="0" tIns="0" bIns="0">
            <a:noAutofit/>
          </a:bodyPr>
          <a:lstStyle/>
          <a:p>
            <a:pPr algn="ctr">
              <a:lnSpc>
                <a:spcPct val="105000"/>
              </a:lnSpc>
            </a:pPr>
            <a:r>
              <a:rPr sz="1050" b="1" i="0">
                <a:solidFill>
                  <a:srgbClr val="040037"/>
                </a:solidFill>
                <a:latin typeface="Figtree"/>
              </a:rPr>
              <a:t>[MILESTONE 1 — e.g. Lease signed]</a:t>
            </a:r>
          </a:p>
        </p:txBody>
      </p:sp>
      <p:sp>
        <p:nvSpPr>
          <p:cNvPr id="16" name="TextBox 15"/>
          <p:cNvSpPr txBox="1"/>
          <p:nvPr/>
        </p:nvSpPr>
        <p:spPr>
          <a:xfrm>
            <a:off x="137159" y="2898648"/>
            <a:ext cx="1920240" cy="274320"/>
          </a:xfrm>
          <a:prstGeom prst="rect">
            <a:avLst/>
          </a:prstGeom>
          <a:noFill/>
        </p:spPr>
        <p:txBody>
          <a:bodyPr wrap="square" anchor="t" lIns="0" rIns="0" tIns="0" bIns="0">
            <a:noAutofit/>
          </a:bodyPr>
          <a:lstStyle/>
          <a:p>
            <a:pPr algn="ctr"/>
            <a:r>
              <a:rPr sz="950" b="0" i="0">
                <a:solidFill>
                  <a:srgbClr val="8E8CA5"/>
                </a:solidFill>
                <a:latin typeface="Figtree"/>
              </a:rPr>
              <a:t>[DATE]</a:t>
            </a:r>
          </a:p>
        </p:txBody>
      </p:sp>
      <p:sp>
        <p:nvSpPr>
          <p:cNvPr id="17" name="Oval 16"/>
          <p:cNvSpPr/>
          <p:nvPr/>
        </p:nvSpPr>
        <p:spPr>
          <a:xfrm>
            <a:off x="3246120" y="3474720"/>
            <a:ext cx="274320" cy="274320"/>
          </a:xfrm>
          <a:prstGeom prst="ellipse">
            <a:avLst/>
          </a:prstGeom>
          <a:solidFill>
            <a:srgbClr val="20B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328416" y="3557016"/>
            <a:ext cx="109728" cy="1097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23160" y="3977639"/>
            <a:ext cx="1920240" cy="502920"/>
          </a:xfrm>
          <a:prstGeom prst="rect">
            <a:avLst/>
          </a:prstGeom>
          <a:noFill/>
        </p:spPr>
        <p:txBody>
          <a:bodyPr wrap="square" anchor="t" lIns="0" rIns="0" tIns="0" bIns="0">
            <a:noAutofit/>
          </a:bodyPr>
          <a:lstStyle/>
          <a:p>
            <a:pPr algn="ctr">
              <a:lnSpc>
                <a:spcPct val="105000"/>
              </a:lnSpc>
            </a:pPr>
            <a:r>
              <a:rPr sz="1050" b="1" i="0">
                <a:solidFill>
                  <a:srgbClr val="040037"/>
                </a:solidFill>
                <a:latin typeface="Figtree"/>
              </a:rPr>
              <a:t>[MILESTONE 2 — e.g. First shipment]</a:t>
            </a:r>
          </a:p>
        </p:txBody>
      </p:sp>
      <p:sp>
        <p:nvSpPr>
          <p:cNvPr id="20" name="TextBox 19"/>
          <p:cNvSpPr txBox="1"/>
          <p:nvPr/>
        </p:nvSpPr>
        <p:spPr>
          <a:xfrm>
            <a:off x="2423160" y="4544568"/>
            <a:ext cx="1920240" cy="274320"/>
          </a:xfrm>
          <a:prstGeom prst="rect">
            <a:avLst/>
          </a:prstGeom>
          <a:noFill/>
        </p:spPr>
        <p:txBody>
          <a:bodyPr wrap="square" anchor="t" lIns="0" rIns="0" tIns="0" bIns="0">
            <a:noAutofit/>
          </a:bodyPr>
          <a:lstStyle/>
          <a:p>
            <a:pPr algn="ctr"/>
            <a:r>
              <a:rPr sz="950" b="0" i="0">
                <a:solidFill>
                  <a:srgbClr val="8E8CA5"/>
                </a:solidFill>
                <a:latin typeface="Figtree"/>
              </a:rPr>
              <a:t>[DATE]</a:t>
            </a:r>
          </a:p>
        </p:txBody>
      </p:sp>
      <p:sp>
        <p:nvSpPr>
          <p:cNvPr id="21" name="Oval 20"/>
          <p:cNvSpPr/>
          <p:nvPr/>
        </p:nvSpPr>
        <p:spPr>
          <a:xfrm>
            <a:off x="5495544" y="3438144"/>
            <a:ext cx="347472" cy="347472"/>
          </a:xfrm>
          <a:prstGeom prst="ellipse">
            <a:avLst/>
          </a:prstGeom>
          <a:solidFill>
            <a:srgbClr val="FFFFFF"/>
          </a:solidFill>
          <a:ln w="38100">
            <a:solidFill>
              <a:srgbClr val="FFD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605272" y="3547872"/>
            <a:ext cx="128016" cy="128016"/>
          </a:xfrm>
          <a:prstGeom prst="ellipse">
            <a:avLst/>
          </a:prstGeom>
          <a:solidFill>
            <a:srgbClr val="FFD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60" y="2331720"/>
            <a:ext cx="1920240" cy="502920"/>
          </a:xfrm>
          <a:prstGeom prst="rect">
            <a:avLst/>
          </a:prstGeom>
          <a:noFill/>
        </p:spPr>
        <p:txBody>
          <a:bodyPr wrap="square" anchor="t" lIns="0" rIns="0" tIns="0" bIns="0">
            <a:noAutofit/>
          </a:bodyPr>
          <a:lstStyle/>
          <a:p>
            <a:pPr algn="ctr">
              <a:lnSpc>
                <a:spcPct val="105000"/>
              </a:lnSpc>
            </a:pPr>
            <a:r>
              <a:rPr sz="1050" b="1" i="0">
                <a:solidFill>
                  <a:srgbClr val="040037"/>
                </a:solidFill>
                <a:latin typeface="Figtree"/>
              </a:rPr>
              <a:t>[MILESTONE 3 — e.g. Store fit-out]</a:t>
            </a:r>
          </a:p>
        </p:txBody>
      </p:sp>
      <p:sp>
        <p:nvSpPr>
          <p:cNvPr id="24" name="TextBox 23"/>
          <p:cNvSpPr txBox="1"/>
          <p:nvPr/>
        </p:nvSpPr>
        <p:spPr>
          <a:xfrm>
            <a:off x="4709160" y="2898648"/>
            <a:ext cx="1920240" cy="274320"/>
          </a:xfrm>
          <a:prstGeom prst="rect">
            <a:avLst/>
          </a:prstGeom>
          <a:noFill/>
        </p:spPr>
        <p:txBody>
          <a:bodyPr wrap="square" anchor="t" lIns="0" rIns="0" tIns="0" bIns="0">
            <a:noAutofit/>
          </a:bodyPr>
          <a:lstStyle/>
          <a:p>
            <a:pPr algn="ctr"/>
            <a:r>
              <a:rPr sz="950" b="0" i="0">
                <a:solidFill>
                  <a:srgbClr val="8E8CA5"/>
                </a:solidFill>
                <a:latin typeface="Figtree"/>
              </a:rPr>
              <a:t>[DATE]</a:t>
            </a:r>
          </a:p>
        </p:txBody>
      </p:sp>
      <p:sp>
        <p:nvSpPr>
          <p:cNvPr id="25" name="Oval 24"/>
          <p:cNvSpPr/>
          <p:nvPr/>
        </p:nvSpPr>
        <p:spPr>
          <a:xfrm>
            <a:off x="7818119" y="3474720"/>
            <a:ext cx="274320" cy="274320"/>
          </a:xfrm>
          <a:prstGeom prst="ellipse">
            <a:avLst/>
          </a:prstGeom>
          <a:solidFill>
            <a:srgbClr val="FFFFFF"/>
          </a:solidFill>
          <a:ln w="25400">
            <a:solidFill>
              <a:srgbClr val="D9D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59" y="3977639"/>
            <a:ext cx="1920240" cy="502920"/>
          </a:xfrm>
          <a:prstGeom prst="rect">
            <a:avLst/>
          </a:prstGeom>
          <a:noFill/>
        </p:spPr>
        <p:txBody>
          <a:bodyPr wrap="square" anchor="t" lIns="0" rIns="0" tIns="0" bIns="0">
            <a:noAutofit/>
          </a:bodyPr>
          <a:lstStyle/>
          <a:p>
            <a:pPr algn="ctr">
              <a:lnSpc>
                <a:spcPct val="105000"/>
              </a:lnSpc>
            </a:pPr>
            <a:r>
              <a:rPr sz="1050" b="1" i="0">
                <a:solidFill>
                  <a:srgbClr val="040037"/>
                </a:solidFill>
                <a:latin typeface="Figtree"/>
              </a:rPr>
              <a:t>[MILESTONE 4 — e.g. Soft opening]</a:t>
            </a:r>
          </a:p>
        </p:txBody>
      </p:sp>
      <p:sp>
        <p:nvSpPr>
          <p:cNvPr id="27" name="TextBox 26"/>
          <p:cNvSpPr txBox="1"/>
          <p:nvPr/>
        </p:nvSpPr>
        <p:spPr>
          <a:xfrm>
            <a:off x="6995159" y="4544568"/>
            <a:ext cx="1920240" cy="274320"/>
          </a:xfrm>
          <a:prstGeom prst="rect">
            <a:avLst/>
          </a:prstGeom>
          <a:noFill/>
        </p:spPr>
        <p:txBody>
          <a:bodyPr wrap="square" anchor="t" lIns="0" rIns="0" tIns="0" bIns="0">
            <a:noAutofit/>
          </a:bodyPr>
          <a:lstStyle/>
          <a:p>
            <a:pPr algn="ctr"/>
            <a:r>
              <a:rPr sz="950" b="0" i="0">
                <a:solidFill>
                  <a:srgbClr val="8E8CA5"/>
                </a:solidFill>
                <a:latin typeface="Figtree"/>
              </a:rPr>
              <a:t>[DATE]</a:t>
            </a:r>
          </a:p>
        </p:txBody>
      </p:sp>
      <p:sp>
        <p:nvSpPr>
          <p:cNvPr id="28" name="Oval 27"/>
          <p:cNvSpPr/>
          <p:nvPr/>
        </p:nvSpPr>
        <p:spPr>
          <a:xfrm>
            <a:off x="10104119" y="3474720"/>
            <a:ext cx="274320" cy="274320"/>
          </a:xfrm>
          <a:prstGeom prst="ellipse">
            <a:avLst/>
          </a:prstGeom>
          <a:solidFill>
            <a:srgbClr val="FFFFFF"/>
          </a:solidFill>
          <a:ln w="25400">
            <a:solidFill>
              <a:srgbClr val="D9D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59" y="2331720"/>
            <a:ext cx="1920240" cy="502920"/>
          </a:xfrm>
          <a:prstGeom prst="rect">
            <a:avLst/>
          </a:prstGeom>
          <a:noFill/>
        </p:spPr>
        <p:txBody>
          <a:bodyPr wrap="square" anchor="t" lIns="0" rIns="0" tIns="0" bIns="0">
            <a:noAutofit/>
          </a:bodyPr>
          <a:lstStyle/>
          <a:p>
            <a:pPr algn="ctr">
              <a:lnSpc>
                <a:spcPct val="105000"/>
              </a:lnSpc>
            </a:pPr>
            <a:r>
              <a:rPr sz="1050" b="1" i="0">
                <a:solidFill>
                  <a:srgbClr val="040037"/>
                </a:solidFill>
                <a:latin typeface="Figtree"/>
              </a:rPr>
              <a:t>[MILESTONE 5 — e.g. Grand opening]</a:t>
            </a:r>
          </a:p>
        </p:txBody>
      </p:sp>
      <p:sp>
        <p:nvSpPr>
          <p:cNvPr id="30" name="TextBox 29"/>
          <p:cNvSpPr txBox="1"/>
          <p:nvPr/>
        </p:nvSpPr>
        <p:spPr>
          <a:xfrm>
            <a:off x="9281159" y="2898648"/>
            <a:ext cx="1920240" cy="274320"/>
          </a:xfrm>
          <a:prstGeom prst="rect">
            <a:avLst/>
          </a:prstGeom>
          <a:noFill/>
        </p:spPr>
        <p:txBody>
          <a:bodyPr wrap="square" anchor="t" lIns="0" rIns="0" tIns="0" bIns="0">
            <a:noAutofit/>
          </a:bodyPr>
          <a:lstStyle/>
          <a:p>
            <a:pPr algn="ctr"/>
            <a:r>
              <a:rPr sz="950" b="0" i="0">
                <a:solidFill>
                  <a:srgbClr val="8E8CA5"/>
                </a:solidFill>
                <a:latin typeface="Figtree"/>
              </a:rPr>
              <a:t>[DATE]</a:t>
            </a:r>
          </a:p>
        </p:txBody>
      </p:sp>
      <p:sp>
        <p:nvSpPr>
          <p:cNvPr id="31" name="Rounded Rectangle 30"/>
          <p:cNvSpPr/>
          <p:nvPr/>
        </p:nvSpPr>
        <p:spPr>
          <a:xfrm>
            <a:off x="502920" y="5138928"/>
            <a:ext cx="11185855" cy="1115568"/>
          </a:xfrm>
          <a:prstGeom prst="roundRect">
            <a:avLst>
              <a:gd name="adj" fmla="val 10000"/>
            </a:avLst>
          </a:prstGeom>
          <a:solidFill>
            <a:srgbClr val="FE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138928"/>
            <a:ext cx="82296" cy="1115568"/>
          </a:xfrm>
          <a:prstGeom prst="rect">
            <a:avLst/>
          </a:prstGeom>
          <a:solidFill>
            <a:srgbClr val="FB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285232"/>
            <a:ext cx="2011680" cy="274320"/>
          </a:xfrm>
          <a:prstGeom prst="rect">
            <a:avLst/>
          </a:prstGeom>
          <a:noFill/>
        </p:spPr>
        <p:txBody>
          <a:bodyPr wrap="square" anchor="t" lIns="0" rIns="0" tIns="0" bIns="0">
            <a:noAutofit/>
          </a:bodyPr>
          <a:lstStyle/>
          <a:p>
            <a:pPr algn="l"/>
            <a:r>
              <a:rPr sz="950" b="1" i="0" spc="250">
                <a:solidFill>
                  <a:srgbClr val="FB5B00"/>
                </a:solidFill>
                <a:latin typeface="Figtree"/>
              </a:rPr>
              <a:t>CURRENT PHASE</a:t>
            </a:r>
          </a:p>
        </p:txBody>
      </p:sp>
      <p:sp>
        <p:nvSpPr>
          <p:cNvPr id="34" name="TextBox 33"/>
          <p:cNvSpPr txBox="1"/>
          <p:nvPr/>
        </p:nvSpPr>
        <p:spPr>
          <a:xfrm>
            <a:off x="804672" y="5559552"/>
            <a:ext cx="10607040" cy="594360"/>
          </a:xfrm>
          <a:prstGeom prst="rect">
            <a:avLst/>
          </a:prstGeom>
          <a:noFill/>
        </p:spPr>
        <p:txBody>
          <a:bodyPr wrap="square" anchor="t" lIns="0" rIns="0" tIns="0" bIns="0">
            <a:noAutofit/>
          </a:bodyPr>
          <a:lstStyle/>
          <a:p>
            <a:pPr algn="l">
              <a:lnSpc>
                <a:spcPct val="115000"/>
              </a:lnSpc>
            </a:pPr>
            <a:r>
              <a:rPr sz="1150" b="0" i="0">
                <a:solidFill>
                  <a:srgbClr val="4F4C73"/>
                </a:solidFill>
                <a:latin typeface="Figtree"/>
              </a:rPr>
              <a:t>[DETAIL — status of the active milestone: % complete, blockers, date risk, what HQ support is needed.]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an_light.png"/>
          <p:cNvPicPr>
            <a:picLocks noChangeAspect="1"/>
          </p:cNvPicPr>
          <p:nvPr/>
        </p:nvPicPr>
        <p:blipFill>
          <a:blip r:embed="rId2"/>
          <a:stretch>
            <a:fillRect/>
          </a:stretch>
        </p:blipFill>
        <p:spPr>
          <a:xfrm>
            <a:off x="10271455" y="0"/>
            <a:ext cx="1920240" cy="1920240"/>
          </a:xfrm>
          <a:prstGeom prst="rect">
            <a:avLst/>
          </a:prstGeom>
        </p:spPr>
      </p:pic>
      <p:pic>
        <p:nvPicPr>
          <p:cNvPr id="3" name="Picture 2" descr="glyph_blue.png"/>
          <p:cNvPicPr>
            <a:picLocks noChangeAspect="1"/>
          </p:cNvPicPr>
          <p:nvPr/>
        </p:nvPicPr>
        <p:blipFill>
          <a:blip r:embed="rId3"/>
          <a:stretch>
            <a:fillRect/>
          </a:stretch>
        </p:blipFill>
        <p:spPr>
          <a:xfrm>
            <a:off x="502920" y="512064"/>
            <a:ext cx="274320" cy="274320"/>
          </a:xfrm>
          <a:prstGeom prst="rect">
            <a:avLst/>
          </a:prstGeom>
        </p:spPr>
      </p:pic>
      <p:sp>
        <p:nvSpPr>
          <p:cNvPr id="4" name="TextBox 3"/>
          <p:cNvSpPr txBox="1"/>
          <p:nvPr/>
        </p:nvSpPr>
        <p:spPr>
          <a:xfrm>
            <a:off x="886968" y="429768"/>
            <a:ext cx="9144000" cy="274320"/>
          </a:xfrm>
          <a:prstGeom prst="rect">
            <a:avLst/>
          </a:prstGeom>
          <a:noFill/>
        </p:spPr>
        <p:txBody>
          <a:bodyPr wrap="square" anchor="t" lIns="0" rIns="0" tIns="0" bIns="0">
            <a:noAutofit/>
          </a:bodyPr>
          <a:lstStyle/>
          <a:p>
            <a:pPr algn="l"/>
            <a:r>
              <a:rPr sz="1050" b="1" i="0" spc="280">
                <a:solidFill>
                  <a:srgbClr val="006EFB"/>
                </a:solidFill>
                <a:latin typeface="Figtree"/>
              </a:rPr>
              <a:t>05 — VENTES &amp; PERFORMANCE · VENTAS Y DESEMPEÑO</a:t>
            </a:r>
          </a:p>
        </p:txBody>
      </p:sp>
      <p:sp>
        <p:nvSpPr>
          <p:cNvPr id="5" name="TextBox 4"/>
          <p:cNvSpPr txBox="1"/>
          <p:nvPr/>
        </p:nvSpPr>
        <p:spPr>
          <a:xfrm>
            <a:off x="868680" y="676656"/>
            <a:ext cx="9601200" cy="594360"/>
          </a:xfrm>
          <a:prstGeom prst="rect">
            <a:avLst/>
          </a:prstGeom>
          <a:noFill/>
        </p:spPr>
        <p:txBody>
          <a:bodyPr wrap="square" anchor="t" lIns="0" rIns="0" tIns="0" bIns="0">
            <a:noAutofit/>
          </a:bodyPr>
          <a:lstStyle/>
          <a:p>
            <a:pPr algn="l"/>
            <a:r>
              <a:rPr sz="2700" b="1" i="0">
                <a:solidFill>
                  <a:srgbClr val="040037"/>
                </a:solidFill>
                <a:latin typeface="Figtree"/>
              </a:rPr>
              <a:t>Sales &amp; Performance</a:t>
            </a:r>
          </a:p>
        </p:txBody>
      </p:sp>
      <p:cxnSp>
        <p:nvCxnSpPr>
          <p:cNvPr id="6" name="Connector 5"/>
          <p:cNvCxnSpPr/>
          <p:nvPr/>
        </p:nvCxnSpPr>
        <p:spPr>
          <a:xfrm>
            <a:off x="502920" y="1389888"/>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73952"/>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47104"/>
            <a:ext cx="5486400" cy="274320"/>
          </a:xfrm>
          <a:prstGeom prst="rect">
            <a:avLst/>
          </a:prstGeom>
          <a:noFill/>
        </p:spPr>
        <p:txBody>
          <a:bodyPr wrap="square" anchor="t" lIns="0" rIns="0" tIns="0" bIns="0">
            <a:noAutofit/>
          </a:bodyPr>
          <a:lstStyle/>
          <a:p>
            <a:pPr algn="l"/>
            <a:r>
              <a:rPr sz="750" b="1" i="0" spc="200">
                <a:solidFill>
                  <a:srgbClr val="8E8CA5"/>
                </a:solidFill>
                <a:latin typeface="Figtree"/>
              </a:rPr>
              <a:t>GRUPO ONE × KIABI</a:t>
            </a:r>
            <a:r>
              <a:rPr sz="750" b="0" i="0" spc="200">
                <a:solidFill>
                  <a:srgbClr val="8E8CA5"/>
                </a:solidFill>
                <a:latin typeface="Figtree"/>
              </a:rPr>
              <a:t>   ·   CONFIDENTIAL — FOR KIABI HQ</a:t>
            </a:r>
          </a:p>
        </p:txBody>
      </p:sp>
      <p:sp>
        <p:nvSpPr>
          <p:cNvPr id="9" name="TextBox 8"/>
          <p:cNvSpPr txBox="1"/>
          <p:nvPr/>
        </p:nvSpPr>
        <p:spPr>
          <a:xfrm>
            <a:off x="8031175" y="6547104"/>
            <a:ext cx="3657600" cy="274320"/>
          </a:xfrm>
          <a:prstGeom prst="rect">
            <a:avLst/>
          </a:prstGeom>
          <a:noFill/>
        </p:spPr>
        <p:txBody>
          <a:bodyPr wrap="square" anchor="t" lIns="0" rIns="0" tIns="0" bIns="0">
            <a:noAutofit/>
          </a:bodyPr>
          <a:lstStyle/>
          <a:p>
            <a:pPr algn="r"/>
            <a:r>
              <a:rPr sz="750" b="0" i="0" spc="200">
                <a:solidFill>
                  <a:srgbClr val="8E8CA5"/>
                </a:solidFill>
                <a:latin typeface="Figtree"/>
              </a:rPr>
              <a:t>[MONTH YEAR]   ·   </a:t>
            </a:r>
            <a:r>
              <a:rPr sz="750" b="1" i="0" spc="200">
                <a:solidFill>
                  <a:srgbClr val="8E8CA5"/>
                </a:solidFill>
                <a:latin typeface="Figtree"/>
              </a:rPr>
              <a:t>05 / 10</a:t>
            </a:r>
          </a:p>
        </p:txBody>
      </p:sp>
      <p:sp>
        <p:nvSpPr>
          <p:cNvPr id="10" name="TextBox 9"/>
          <p:cNvSpPr txBox="1"/>
          <p:nvPr/>
        </p:nvSpPr>
        <p:spPr>
          <a:xfrm>
            <a:off x="502920" y="1645920"/>
            <a:ext cx="6858000" cy="320040"/>
          </a:xfrm>
          <a:prstGeom prst="rect">
            <a:avLst/>
          </a:prstGeom>
          <a:noFill/>
        </p:spPr>
        <p:txBody>
          <a:bodyPr wrap="square" anchor="t" lIns="0" rIns="0" tIns="0" bIns="0">
            <a:noAutofit/>
          </a:bodyPr>
          <a:lstStyle/>
          <a:p>
            <a:pPr algn="l"/>
            <a:r>
              <a:rPr sz="1250" b="1" i="0">
                <a:solidFill>
                  <a:srgbClr val="040037"/>
                </a:solidFill>
                <a:latin typeface="Figtree"/>
              </a:rPr>
              <a:t>[METRIC — e.g. Net sales, ARS m] </a:t>
            </a:r>
            <a:r>
              <a:rPr sz="1100" b="0" i="0">
                <a:solidFill>
                  <a:srgbClr val="8E8CA5"/>
                </a:solidFill>
                <a:latin typeface="Figtree"/>
              </a:rPr>
              <a:t>· actual vs target, last 6 months</a:t>
            </a:r>
          </a:p>
        </p:txBody>
      </p:sp>
      <p:graphicFrame>
        <p:nvGraphicFramePr>
          <p:cNvPr id="11" name="Chart 10"/>
          <p:cNvGraphicFramePr>
            <a:graphicFrameLocks noGrp="1"/>
          </p:cNvGraphicFramePr>
          <p:nvPr/>
        </p:nvGraphicFramePr>
        <p:xfrm>
          <a:off x="502920" y="2057400"/>
          <a:ext cx="6903720" cy="4160520"/>
        </p:xfrm>
        <a:graphic>
          <a:graphicData uri="http://schemas.openxmlformats.org/drawingml/2006/chart">
            <c:chart xmlns:c="http://schemas.openxmlformats.org/drawingml/2006/chart" r:id="rId4"/>
          </a:graphicData>
        </a:graphic>
      </p:graphicFrame>
      <p:sp>
        <p:nvSpPr>
          <p:cNvPr id="12" name="Rounded Rectangle 11"/>
          <p:cNvSpPr/>
          <p:nvPr/>
        </p:nvSpPr>
        <p:spPr>
          <a:xfrm>
            <a:off x="7726679" y="1691640"/>
            <a:ext cx="3959352" cy="4553712"/>
          </a:xfrm>
          <a:prstGeom prst="roundRect">
            <a:avLst>
              <a:gd name="adj" fmla="val 6000"/>
            </a:avLst>
          </a:prstGeom>
          <a:solidFill>
            <a:srgbClr val="ED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1901952"/>
            <a:ext cx="3474720" cy="274320"/>
          </a:xfrm>
          <a:prstGeom prst="rect">
            <a:avLst/>
          </a:prstGeom>
          <a:noFill/>
        </p:spPr>
        <p:txBody>
          <a:bodyPr wrap="square" anchor="t" lIns="0" rIns="0" tIns="0" bIns="0">
            <a:noAutofit/>
          </a:bodyPr>
          <a:lstStyle/>
          <a:p>
            <a:pPr algn="l"/>
            <a:r>
              <a:rPr sz="1000" b="1" i="0" spc="300">
                <a:solidFill>
                  <a:srgbClr val="006EFB"/>
                </a:solidFill>
                <a:latin typeface="Figtree"/>
              </a:rPr>
              <a:t>COMMENTARY</a:t>
            </a:r>
          </a:p>
        </p:txBody>
      </p:sp>
      <p:sp>
        <p:nvSpPr>
          <p:cNvPr id="14" name="TextBox 13"/>
          <p:cNvSpPr txBox="1"/>
          <p:nvPr/>
        </p:nvSpPr>
        <p:spPr>
          <a:xfrm>
            <a:off x="8001000" y="2331720"/>
            <a:ext cx="3429000" cy="274320"/>
          </a:xfrm>
          <a:prstGeom prst="rect">
            <a:avLst/>
          </a:prstGeom>
          <a:noFill/>
        </p:spPr>
        <p:txBody>
          <a:bodyPr wrap="square" anchor="t" lIns="0" rIns="0" tIns="0" bIns="0">
            <a:noAutofit/>
          </a:bodyPr>
          <a:lstStyle/>
          <a:p>
            <a:pPr algn="l"/>
            <a:r>
              <a:rPr sz="950" b="1" i="0" spc="150">
                <a:solidFill>
                  <a:srgbClr val="20B14A"/>
                </a:solidFill>
                <a:latin typeface="Figtree"/>
              </a:rPr>
              <a:t>▲  WHAT WORKED</a:t>
            </a:r>
          </a:p>
        </p:txBody>
      </p:sp>
      <p:sp>
        <p:nvSpPr>
          <p:cNvPr id="15" name="TextBox 14"/>
          <p:cNvSpPr txBox="1"/>
          <p:nvPr/>
        </p:nvSpPr>
        <p:spPr>
          <a:xfrm>
            <a:off x="8001000" y="2606039"/>
            <a:ext cx="3429000" cy="868680"/>
          </a:xfrm>
          <a:prstGeom prst="rect">
            <a:avLst/>
          </a:prstGeom>
          <a:noFill/>
        </p:spPr>
        <p:txBody>
          <a:bodyPr wrap="square" anchor="t" lIns="0" rIns="0" tIns="0" bIns="0">
            <a:noAutofit/>
          </a:bodyPr>
          <a:lstStyle/>
          <a:p>
            <a:pPr algn="l">
              <a:lnSpc>
                <a:spcPct val="112000"/>
              </a:lnSpc>
            </a:pPr>
            <a:r>
              <a:rPr sz="1050" b="0" i="0">
                <a:solidFill>
                  <a:srgbClr val="4F4C73"/>
                </a:solidFill>
                <a:latin typeface="Figtree"/>
              </a:rPr>
              <a:t>[INSIGHT — driver of over-performance: category, store, campaign.]</a:t>
            </a:r>
          </a:p>
        </p:txBody>
      </p:sp>
      <p:sp>
        <p:nvSpPr>
          <p:cNvPr id="16" name="TextBox 15"/>
          <p:cNvSpPr txBox="1"/>
          <p:nvPr/>
        </p:nvSpPr>
        <p:spPr>
          <a:xfrm>
            <a:off x="8001000" y="3630168"/>
            <a:ext cx="3429000" cy="274320"/>
          </a:xfrm>
          <a:prstGeom prst="rect">
            <a:avLst/>
          </a:prstGeom>
          <a:noFill/>
        </p:spPr>
        <p:txBody>
          <a:bodyPr wrap="square" anchor="t" lIns="0" rIns="0" tIns="0" bIns="0">
            <a:noAutofit/>
          </a:bodyPr>
          <a:lstStyle/>
          <a:p>
            <a:pPr algn="l"/>
            <a:r>
              <a:rPr sz="950" b="1" i="0" spc="150">
                <a:solidFill>
                  <a:srgbClr val="E91B2E"/>
                </a:solidFill>
                <a:latin typeface="Figtree"/>
              </a:rPr>
              <a:t>▼  WHAT LAGGED</a:t>
            </a:r>
          </a:p>
        </p:txBody>
      </p:sp>
      <p:sp>
        <p:nvSpPr>
          <p:cNvPr id="17" name="TextBox 16"/>
          <p:cNvSpPr txBox="1"/>
          <p:nvPr/>
        </p:nvSpPr>
        <p:spPr>
          <a:xfrm>
            <a:off x="8001000" y="3904487"/>
            <a:ext cx="3429000" cy="868680"/>
          </a:xfrm>
          <a:prstGeom prst="rect">
            <a:avLst/>
          </a:prstGeom>
          <a:noFill/>
        </p:spPr>
        <p:txBody>
          <a:bodyPr wrap="square" anchor="t" lIns="0" rIns="0" tIns="0" bIns="0">
            <a:noAutofit/>
          </a:bodyPr>
          <a:lstStyle/>
          <a:p>
            <a:pPr algn="l">
              <a:lnSpc>
                <a:spcPct val="112000"/>
              </a:lnSpc>
            </a:pPr>
            <a:r>
              <a:rPr sz="1050" b="0" i="0">
                <a:solidFill>
                  <a:srgbClr val="4F4C73"/>
                </a:solidFill>
                <a:latin typeface="Figtree"/>
              </a:rPr>
              <a:t>[INSIGHT — where we missed and the root cause.]</a:t>
            </a:r>
          </a:p>
        </p:txBody>
      </p:sp>
      <p:sp>
        <p:nvSpPr>
          <p:cNvPr id="18" name="TextBox 17"/>
          <p:cNvSpPr txBox="1"/>
          <p:nvPr/>
        </p:nvSpPr>
        <p:spPr>
          <a:xfrm>
            <a:off x="8001000" y="4928616"/>
            <a:ext cx="3429000" cy="274320"/>
          </a:xfrm>
          <a:prstGeom prst="rect">
            <a:avLst/>
          </a:prstGeom>
          <a:noFill/>
        </p:spPr>
        <p:txBody>
          <a:bodyPr wrap="square" anchor="t" lIns="0" rIns="0" tIns="0" bIns="0">
            <a:noAutofit/>
          </a:bodyPr>
          <a:lstStyle/>
          <a:p>
            <a:pPr algn="l"/>
            <a:r>
              <a:rPr sz="950" b="1" i="0" spc="150">
                <a:solidFill>
                  <a:srgbClr val="FB5B00"/>
                </a:solidFill>
                <a:latin typeface="Figtree"/>
              </a:rPr>
              <a:t>→  ACTION / ASK</a:t>
            </a:r>
          </a:p>
        </p:txBody>
      </p:sp>
      <p:sp>
        <p:nvSpPr>
          <p:cNvPr id="19" name="TextBox 18"/>
          <p:cNvSpPr txBox="1"/>
          <p:nvPr/>
        </p:nvSpPr>
        <p:spPr>
          <a:xfrm>
            <a:off x="8001000" y="5202936"/>
            <a:ext cx="3429000" cy="868680"/>
          </a:xfrm>
          <a:prstGeom prst="rect">
            <a:avLst/>
          </a:prstGeom>
          <a:noFill/>
        </p:spPr>
        <p:txBody>
          <a:bodyPr wrap="square" anchor="t" lIns="0" rIns="0" tIns="0" bIns="0">
            <a:noAutofit/>
          </a:bodyPr>
          <a:lstStyle/>
          <a:p>
            <a:pPr algn="l">
              <a:lnSpc>
                <a:spcPct val="112000"/>
              </a:lnSpc>
            </a:pPr>
            <a:r>
              <a:rPr sz="1050" b="0" i="0">
                <a:solidFill>
                  <a:srgbClr val="4F4C73"/>
                </a:solidFill>
                <a:latin typeface="Figtree"/>
              </a:rPr>
              <a:t>[ACTION — corrective step taken, or decision requested from HQ.]</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an_light.png"/>
          <p:cNvPicPr>
            <a:picLocks noChangeAspect="1"/>
          </p:cNvPicPr>
          <p:nvPr/>
        </p:nvPicPr>
        <p:blipFill>
          <a:blip r:embed="rId2"/>
          <a:stretch>
            <a:fillRect/>
          </a:stretch>
        </p:blipFill>
        <p:spPr>
          <a:xfrm>
            <a:off x="10271455" y="0"/>
            <a:ext cx="1920240" cy="1920240"/>
          </a:xfrm>
          <a:prstGeom prst="rect">
            <a:avLst/>
          </a:prstGeom>
        </p:spPr>
      </p:pic>
      <p:pic>
        <p:nvPicPr>
          <p:cNvPr id="3" name="Picture 2" descr="glyph_red.png"/>
          <p:cNvPicPr>
            <a:picLocks noChangeAspect="1"/>
          </p:cNvPicPr>
          <p:nvPr/>
        </p:nvPicPr>
        <p:blipFill>
          <a:blip r:embed="rId3"/>
          <a:stretch>
            <a:fillRect/>
          </a:stretch>
        </p:blipFill>
        <p:spPr>
          <a:xfrm>
            <a:off x="502920" y="512064"/>
            <a:ext cx="274320" cy="274320"/>
          </a:xfrm>
          <a:prstGeom prst="rect">
            <a:avLst/>
          </a:prstGeom>
        </p:spPr>
      </p:pic>
      <p:sp>
        <p:nvSpPr>
          <p:cNvPr id="4" name="TextBox 3"/>
          <p:cNvSpPr txBox="1"/>
          <p:nvPr/>
        </p:nvSpPr>
        <p:spPr>
          <a:xfrm>
            <a:off x="886968" y="429768"/>
            <a:ext cx="9144000" cy="274320"/>
          </a:xfrm>
          <a:prstGeom prst="rect">
            <a:avLst/>
          </a:prstGeom>
          <a:noFill/>
        </p:spPr>
        <p:txBody>
          <a:bodyPr wrap="square" anchor="t" lIns="0" rIns="0" tIns="0" bIns="0">
            <a:noAutofit/>
          </a:bodyPr>
          <a:lstStyle/>
          <a:p>
            <a:pPr algn="l"/>
            <a:r>
              <a:rPr sz="1050" b="1" i="0" spc="280">
                <a:solidFill>
                  <a:srgbClr val="E91B2E"/>
                </a:solidFill>
                <a:latin typeface="Figtree"/>
              </a:rPr>
              <a:t>06 — INSIGHTS CONSOMMATEURS · INSIGHTS DEL CONSUMIDOR</a:t>
            </a:r>
          </a:p>
        </p:txBody>
      </p:sp>
      <p:sp>
        <p:nvSpPr>
          <p:cNvPr id="5" name="TextBox 4"/>
          <p:cNvSpPr txBox="1"/>
          <p:nvPr/>
        </p:nvSpPr>
        <p:spPr>
          <a:xfrm>
            <a:off x="868680" y="676656"/>
            <a:ext cx="9601200" cy="594360"/>
          </a:xfrm>
          <a:prstGeom prst="rect">
            <a:avLst/>
          </a:prstGeom>
          <a:noFill/>
        </p:spPr>
        <p:txBody>
          <a:bodyPr wrap="square" anchor="t" lIns="0" rIns="0" tIns="0" bIns="0">
            <a:noAutofit/>
          </a:bodyPr>
          <a:lstStyle/>
          <a:p>
            <a:pPr algn="l"/>
            <a:r>
              <a:rPr sz="2700" b="1" i="0">
                <a:solidFill>
                  <a:srgbClr val="040037"/>
                </a:solidFill>
                <a:latin typeface="Figtree"/>
              </a:rPr>
              <a:t>Consumer Insights</a:t>
            </a:r>
          </a:p>
        </p:txBody>
      </p:sp>
      <p:cxnSp>
        <p:nvCxnSpPr>
          <p:cNvPr id="6" name="Connector 5"/>
          <p:cNvCxnSpPr/>
          <p:nvPr/>
        </p:nvCxnSpPr>
        <p:spPr>
          <a:xfrm>
            <a:off x="502920" y="1389888"/>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73952"/>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47104"/>
            <a:ext cx="5486400" cy="274320"/>
          </a:xfrm>
          <a:prstGeom prst="rect">
            <a:avLst/>
          </a:prstGeom>
          <a:noFill/>
        </p:spPr>
        <p:txBody>
          <a:bodyPr wrap="square" anchor="t" lIns="0" rIns="0" tIns="0" bIns="0">
            <a:noAutofit/>
          </a:bodyPr>
          <a:lstStyle/>
          <a:p>
            <a:pPr algn="l"/>
            <a:r>
              <a:rPr sz="750" b="1" i="0" spc="200">
                <a:solidFill>
                  <a:srgbClr val="8E8CA5"/>
                </a:solidFill>
                <a:latin typeface="Figtree"/>
              </a:rPr>
              <a:t>GRUPO ONE × KIABI</a:t>
            </a:r>
            <a:r>
              <a:rPr sz="750" b="0" i="0" spc="200">
                <a:solidFill>
                  <a:srgbClr val="8E8CA5"/>
                </a:solidFill>
                <a:latin typeface="Figtree"/>
              </a:rPr>
              <a:t>   ·   CONFIDENTIAL — FOR KIABI HQ</a:t>
            </a:r>
          </a:p>
        </p:txBody>
      </p:sp>
      <p:sp>
        <p:nvSpPr>
          <p:cNvPr id="9" name="TextBox 8"/>
          <p:cNvSpPr txBox="1"/>
          <p:nvPr/>
        </p:nvSpPr>
        <p:spPr>
          <a:xfrm>
            <a:off x="8031175" y="6547104"/>
            <a:ext cx="3657600" cy="274320"/>
          </a:xfrm>
          <a:prstGeom prst="rect">
            <a:avLst/>
          </a:prstGeom>
          <a:noFill/>
        </p:spPr>
        <p:txBody>
          <a:bodyPr wrap="square" anchor="t" lIns="0" rIns="0" tIns="0" bIns="0">
            <a:noAutofit/>
          </a:bodyPr>
          <a:lstStyle/>
          <a:p>
            <a:pPr algn="r"/>
            <a:r>
              <a:rPr sz="750" b="0" i="0" spc="200">
                <a:solidFill>
                  <a:srgbClr val="8E8CA5"/>
                </a:solidFill>
                <a:latin typeface="Figtree"/>
              </a:rPr>
              <a:t>[MONTH YEAR]   ·   </a:t>
            </a:r>
            <a:r>
              <a:rPr sz="750" b="1" i="0" spc="200">
                <a:solidFill>
                  <a:srgbClr val="8E8CA5"/>
                </a:solidFill>
                <a:latin typeface="Figtree"/>
              </a:rPr>
              <a:t>06 / 10</a:t>
            </a:r>
          </a:p>
        </p:txBody>
      </p:sp>
      <p:sp>
        <p:nvSpPr>
          <p:cNvPr id="10" name="TextBox 9"/>
          <p:cNvSpPr txBox="1"/>
          <p:nvPr/>
        </p:nvSpPr>
        <p:spPr>
          <a:xfrm>
            <a:off x="502920" y="1645920"/>
            <a:ext cx="5394960" cy="274320"/>
          </a:xfrm>
          <a:prstGeom prst="rect">
            <a:avLst/>
          </a:prstGeom>
          <a:noFill/>
        </p:spPr>
        <p:txBody>
          <a:bodyPr wrap="square" anchor="t" lIns="0" rIns="0" tIns="0" bIns="0">
            <a:noAutofit/>
          </a:bodyPr>
          <a:lstStyle/>
          <a:p>
            <a:pPr algn="l"/>
            <a:r>
              <a:rPr sz="1000" b="1" i="0" spc="300">
                <a:solidFill>
                  <a:srgbClr val="E91B2E"/>
                </a:solidFill>
                <a:latin typeface="Figtree"/>
              </a:rPr>
              <a:t>BY THE NUMBERS</a:t>
            </a:r>
          </a:p>
        </p:txBody>
      </p:sp>
      <p:sp>
        <p:nvSpPr>
          <p:cNvPr id="11" name="TextBox 10"/>
          <p:cNvSpPr txBox="1"/>
          <p:nvPr/>
        </p:nvSpPr>
        <p:spPr>
          <a:xfrm>
            <a:off x="502920" y="2057400"/>
            <a:ext cx="1600200" cy="640080"/>
          </a:xfrm>
          <a:prstGeom prst="rect">
            <a:avLst/>
          </a:prstGeom>
          <a:noFill/>
        </p:spPr>
        <p:txBody>
          <a:bodyPr wrap="square" anchor="t" lIns="0" rIns="0" tIns="0" bIns="0">
            <a:noAutofit/>
          </a:bodyPr>
          <a:lstStyle/>
          <a:p>
            <a:pPr algn="l"/>
            <a:r>
              <a:rPr sz="3000" b="1" i="0">
                <a:solidFill>
                  <a:srgbClr val="040037"/>
                </a:solidFill>
                <a:latin typeface="Figtree"/>
              </a:rPr>
              <a:t>[X%]</a:t>
            </a:r>
          </a:p>
        </p:txBody>
      </p:sp>
      <p:sp>
        <p:nvSpPr>
          <p:cNvPr id="12" name="TextBox 11"/>
          <p:cNvSpPr txBox="1"/>
          <p:nvPr/>
        </p:nvSpPr>
        <p:spPr>
          <a:xfrm>
            <a:off x="2240280" y="2148840"/>
            <a:ext cx="3611880" cy="594360"/>
          </a:xfrm>
          <a:prstGeom prst="rect">
            <a:avLst/>
          </a:prstGeom>
          <a:noFill/>
        </p:spPr>
        <p:txBody>
          <a:bodyPr wrap="square" anchor="t" lIns="0" rIns="0" tIns="0" bIns="0">
            <a:noAutofit/>
          </a:bodyPr>
          <a:lstStyle/>
          <a:p>
            <a:pPr algn="l">
              <a:lnSpc>
                <a:spcPct val="112000"/>
              </a:lnSpc>
            </a:pPr>
            <a:r>
              <a:rPr sz="1100" b="0" i="0">
                <a:solidFill>
                  <a:srgbClr val="4F4C73"/>
                </a:solidFill>
                <a:latin typeface="Figtree"/>
              </a:rPr>
              <a:t>[QUANT 1 — e.g. brand awareness in Buenos Aires]</a:t>
            </a:r>
          </a:p>
        </p:txBody>
      </p:sp>
      <p:cxnSp>
        <p:nvCxnSpPr>
          <p:cNvPr id="13" name="Connector 12"/>
          <p:cNvCxnSpPr/>
          <p:nvPr/>
        </p:nvCxnSpPr>
        <p:spPr>
          <a:xfrm>
            <a:off x="502920" y="2990088"/>
            <a:ext cx="5349239" cy="0"/>
          </a:xfrm>
          <a:prstGeom prst="line">
            <a:avLst/>
          </a:prstGeom>
          <a:ln w="9525">
            <a:solidFill>
              <a:srgbClr val="D9D8E1"/>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 y="3136391"/>
            <a:ext cx="1600200" cy="640080"/>
          </a:xfrm>
          <a:prstGeom prst="rect">
            <a:avLst/>
          </a:prstGeom>
          <a:noFill/>
        </p:spPr>
        <p:txBody>
          <a:bodyPr wrap="square" anchor="t" lIns="0" rIns="0" tIns="0" bIns="0">
            <a:noAutofit/>
          </a:bodyPr>
          <a:lstStyle/>
          <a:p>
            <a:pPr algn="l"/>
            <a:r>
              <a:rPr sz="3000" b="1" i="0">
                <a:solidFill>
                  <a:srgbClr val="040037"/>
                </a:solidFill>
                <a:latin typeface="Figtree"/>
              </a:rPr>
              <a:t>[X.X]</a:t>
            </a:r>
          </a:p>
        </p:txBody>
      </p:sp>
      <p:sp>
        <p:nvSpPr>
          <p:cNvPr id="15" name="TextBox 14"/>
          <p:cNvSpPr txBox="1"/>
          <p:nvPr/>
        </p:nvSpPr>
        <p:spPr>
          <a:xfrm>
            <a:off x="2240280" y="3227832"/>
            <a:ext cx="3611880" cy="594360"/>
          </a:xfrm>
          <a:prstGeom prst="rect">
            <a:avLst/>
          </a:prstGeom>
          <a:noFill/>
        </p:spPr>
        <p:txBody>
          <a:bodyPr wrap="square" anchor="t" lIns="0" rIns="0" tIns="0" bIns="0">
            <a:noAutofit/>
          </a:bodyPr>
          <a:lstStyle/>
          <a:p>
            <a:pPr algn="l">
              <a:lnSpc>
                <a:spcPct val="112000"/>
              </a:lnSpc>
            </a:pPr>
            <a:r>
              <a:rPr sz="1100" b="0" i="0">
                <a:solidFill>
                  <a:srgbClr val="4F4C73"/>
                </a:solidFill>
                <a:latin typeface="Figtree"/>
              </a:rPr>
              <a:t>[QUANT 2 — e.g. NPS / satisfaction score]</a:t>
            </a:r>
          </a:p>
        </p:txBody>
      </p:sp>
      <p:cxnSp>
        <p:nvCxnSpPr>
          <p:cNvPr id="16" name="Connector 15"/>
          <p:cNvCxnSpPr/>
          <p:nvPr/>
        </p:nvCxnSpPr>
        <p:spPr>
          <a:xfrm>
            <a:off x="502920" y="4069079"/>
            <a:ext cx="5349239" cy="0"/>
          </a:xfrm>
          <a:prstGeom prst="line">
            <a:avLst/>
          </a:prstGeom>
          <a:ln w="9525">
            <a:solidFill>
              <a:srgbClr val="D9D8E1"/>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4215383"/>
            <a:ext cx="1600200" cy="640080"/>
          </a:xfrm>
          <a:prstGeom prst="rect">
            <a:avLst/>
          </a:prstGeom>
          <a:noFill/>
        </p:spPr>
        <p:txBody>
          <a:bodyPr wrap="square" anchor="t" lIns="0" rIns="0" tIns="0" bIns="0">
            <a:noAutofit/>
          </a:bodyPr>
          <a:lstStyle/>
          <a:p>
            <a:pPr algn="l"/>
            <a:r>
              <a:rPr sz="3000" b="1" i="0">
                <a:solidFill>
                  <a:srgbClr val="040037"/>
                </a:solidFill>
                <a:latin typeface="Figtree"/>
              </a:rPr>
              <a:t>[X%]</a:t>
            </a:r>
          </a:p>
        </p:txBody>
      </p:sp>
      <p:sp>
        <p:nvSpPr>
          <p:cNvPr id="18" name="TextBox 17"/>
          <p:cNvSpPr txBox="1"/>
          <p:nvPr/>
        </p:nvSpPr>
        <p:spPr>
          <a:xfrm>
            <a:off x="2240280" y="4306823"/>
            <a:ext cx="3611880" cy="594360"/>
          </a:xfrm>
          <a:prstGeom prst="rect">
            <a:avLst/>
          </a:prstGeom>
          <a:noFill/>
        </p:spPr>
        <p:txBody>
          <a:bodyPr wrap="square" anchor="t" lIns="0" rIns="0" tIns="0" bIns="0">
            <a:noAutofit/>
          </a:bodyPr>
          <a:lstStyle/>
          <a:p>
            <a:pPr algn="l">
              <a:lnSpc>
                <a:spcPct val="112000"/>
              </a:lnSpc>
            </a:pPr>
            <a:r>
              <a:rPr sz="1100" b="0" i="0">
                <a:solidFill>
                  <a:srgbClr val="4F4C73"/>
                </a:solidFill>
                <a:latin typeface="Figtree"/>
              </a:rPr>
              <a:t>[QUANT 3 — e.g. repeat purchase intent]</a:t>
            </a:r>
          </a:p>
        </p:txBody>
      </p:sp>
      <p:sp>
        <p:nvSpPr>
          <p:cNvPr id="19" name="TextBox 18"/>
          <p:cNvSpPr txBox="1"/>
          <p:nvPr/>
        </p:nvSpPr>
        <p:spPr>
          <a:xfrm>
            <a:off x="502920" y="5349240"/>
            <a:ext cx="5349240" cy="320040"/>
          </a:xfrm>
          <a:prstGeom prst="rect">
            <a:avLst/>
          </a:prstGeom>
          <a:noFill/>
        </p:spPr>
        <p:txBody>
          <a:bodyPr wrap="square" anchor="t" lIns="0" rIns="0" tIns="0" bIns="0">
            <a:noAutofit/>
          </a:bodyPr>
          <a:lstStyle/>
          <a:p>
            <a:pPr algn="l"/>
            <a:r>
              <a:rPr sz="800" b="0" i="0" spc="100">
                <a:solidFill>
                  <a:srgbClr val="8E8CA5"/>
                </a:solidFill>
                <a:latin typeface="Figtree"/>
              </a:rPr>
              <a:t>SOURCE: [STUDY / PANEL / SAMPLE SIZE] · [DATE]</a:t>
            </a:r>
          </a:p>
        </p:txBody>
      </p:sp>
      <p:sp>
        <p:nvSpPr>
          <p:cNvPr id="20" name="TextBox 19"/>
          <p:cNvSpPr txBox="1"/>
          <p:nvPr/>
        </p:nvSpPr>
        <p:spPr>
          <a:xfrm>
            <a:off x="6355080" y="1645920"/>
            <a:ext cx="5349240" cy="274320"/>
          </a:xfrm>
          <a:prstGeom prst="rect">
            <a:avLst/>
          </a:prstGeom>
          <a:noFill/>
        </p:spPr>
        <p:txBody>
          <a:bodyPr wrap="square" anchor="t" lIns="0" rIns="0" tIns="0" bIns="0">
            <a:noAutofit/>
          </a:bodyPr>
          <a:lstStyle/>
          <a:p>
            <a:pPr algn="l"/>
            <a:r>
              <a:rPr sz="1000" b="1" i="0" spc="300">
                <a:solidFill>
                  <a:srgbClr val="E91B2E"/>
                </a:solidFill>
                <a:latin typeface="Figtree"/>
              </a:rPr>
              <a:t>VOICE OF THE CUSTOMER</a:t>
            </a:r>
          </a:p>
        </p:txBody>
      </p:sp>
      <p:sp>
        <p:nvSpPr>
          <p:cNvPr id="21" name="Rounded Rectangle 20"/>
          <p:cNvSpPr/>
          <p:nvPr/>
        </p:nvSpPr>
        <p:spPr>
          <a:xfrm>
            <a:off x="6355080" y="2057400"/>
            <a:ext cx="5330952" cy="1481328"/>
          </a:xfrm>
          <a:prstGeom prst="roundRect">
            <a:avLst>
              <a:gd name="adj" fmla="val 9000"/>
            </a:avLst>
          </a:prstGeom>
          <a:solidFill>
            <a:srgbClr val="F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057400"/>
            <a:ext cx="82296" cy="1481328"/>
          </a:xfrm>
          <a:prstGeom prst="rect">
            <a:avLst/>
          </a:prstGeom>
          <a:solidFill>
            <a:srgbClr val="E9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2240280"/>
            <a:ext cx="4800600" cy="777240"/>
          </a:xfrm>
          <a:prstGeom prst="rect">
            <a:avLst/>
          </a:prstGeom>
          <a:noFill/>
        </p:spPr>
        <p:txBody>
          <a:bodyPr wrap="square" anchor="t" lIns="0" rIns="0" tIns="0" bIns="0">
            <a:noAutofit/>
          </a:bodyPr>
          <a:lstStyle/>
          <a:p>
            <a:pPr algn="l">
              <a:lnSpc>
                <a:spcPct val="115000"/>
              </a:lnSpc>
            </a:pPr>
            <a:r>
              <a:rPr sz="1200" b="0" i="1">
                <a:solidFill>
                  <a:srgbClr val="040037"/>
                </a:solidFill>
                <a:latin typeface="Figtree"/>
              </a:rPr>
              <a:t>“[QUOTE — verbatim from a customer, store team or social comment.]”</a:t>
            </a:r>
          </a:p>
        </p:txBody>
      </p:sp>
      <p:sp>
        <p:nvSpPr>
          <p:cNvPr id="24" name="TextBox 23"/>
          <p:cNvSpPr txBox="1"/>
          <p:nvPr/>
        </p:nvSpPr>
        <p:spPr>
          <a:xfrm>
            <a:off x="6675120" y="3136391"/>
            <a:ext cx="4800600" cy="274320"/>
          </a:xfrm>
          <a:prstGeom prst="rect">
            <a:avLst/>
          </a:prstGeom>
          <a:noFill/>
        </p:spPr>
        <p:txBody>
          <a:bodyPr wrap="square" anchor="t" lIns="0" rIns="0" tIns="0" bIns="0">
            <a:noAutofit/>
          </a:bodyPr>
          <a:lstStyle/>
          <a:p>
            <a:pPr algn="l"/>
            <a:r>
              <a:rPr sz="800" b="0" i="0" spc="100">
                <a:solidFill>
                  <a:srgbClr val="8E8CA5"/>
                </a:solidFill>
                <a:latin typeface="Figtree"/>
              </a:rPr>
              <a:t>— [SOURCE: NPS VERBATIM / STORE VISIT / IG COMMENT] · [DATE]</a:t>
            </a:r>
          </a:p>
        </p:txBody>
      </p:sp>
      <p:sp>
        <p:nvSpPr>
          <p:cNvPr id="25" name="Rounded Rectangle 24"/>
          <p:cNvSpPr/>
          <p:nvPr/>
        </p:nvSpPr>
        <p:spPr>
          <a:xfrm>
            <a:off x="6355080" y="3703320"/>
            <a:ext cx="5330952" cy="1481328"/>
          </a:xfrm>
          <a:prstGeom prst="roundRect">
            <a:avLst>
              <a:gd name="adj" fmla="val 9000"/>
            </a:avLst>
          </a:prstGeom>
          <a:solidFill>
            <a:srgbClr val="F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55080" y="3703320"/>
            <a:ext cx="82296" cy="1481328"/>
          </a:xfrm>
          <a:prstGeom prst="rect">
            <a:avLst/>
          </a:prstGeom>
          <a:solidFill>
            <a:srgbClr val="E9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3886200"/>
            <a:ext cx="4800600" cy="777240"/>
          </a:xfrm>
          <a:prstGeom prst="rect">
            <a:avLst/>
          </a:prstGeom>
          <a:noFill/>
        </p:spPr>
        <p:txBody>
          <a:bodyPr wrap="square" anchor="t" lIns="0" rIns="0" tIns="0" bIns="0">
            <a:noAutofit/>
          </a:bodyPr>
          <a:lstStyle/>
          <a:p>
            <a:pPr algn="l">
              <a:lnSpc>
                <a:spcPct val="115000"/>
              </a:lnSpc>
            </a:pPr>
            <a:r>
              <a:rPr sz="1200" b="0" i="1">
                <a:solidFill>
                  <a:srgbClr val="040037"/>
                </a:solidFill>
                <a:latin typeface="Figtree"/>
              </a:rPr>
              <a:t>“[QUOTE — verbatim from a customer, store team or social comment.]”</a:t>
            </a:r>
          </a:p>
        </p:txBody>
      </p:sp>
      <p:sp>
        <p:nvSpPr>
          <p:cNvPr id="28" name="TextBox 27"/>
          <p:cNvSpPr txBox="1"/>
          <p:nvPr/>
        </p:nvSpPr>
        <p:spPr>
          <a:xfrm>
            <a:off x="6675120" y="4782312"/>
            <a:ext cx="4800600" cy="274320"/>
          </a:xfrm>
          <a:prstGeom prst="rect">
            <a:avLst/>
          </a:prstGeom>
          <a:noFill/>
        </p:spPr>
        <p:txBody>
          <a:bodyPr wrap="square" anchor="t" lIns="0" rIns="0" tIns="0" bIns="0">
            <a:noAutofit/>
          </a:bodyPr>
          <a:lstStyle/>
          <a:p>
            <a:pPr algn="l"/>
            <a:r>
              <a:rPr sz="800" b="0" i="0" spc="100">
                <a:solidFill>
                  <a:srgbClr val="8E8CA5"/>
                </a:solidFill>
                <a:latin typeface="Figtree"/>
              </a:rPr>
              <a:t>— [SOURCE: NPS VERBATIM / STORE VISIT / IG COMMENT] · [DATE]</a:t>
            </a:r>
          </a:p>
        </p:txBody>
      </p:sp>
      <p:pic>
        <p:nvPicPr>
          <p:cNvPr id="29" name="Picture 28" descr="glyph_red.png"/>
          <p:cNvPicPr>
            <a:picLocks noChangeAspect="1"/>
          </p:cNvPicPr>
          <p:nvPr/>
        </p:nvPicPr>
        <p:blipFill>
          <a:blip r:embed="rId3"/>
          <a:stretch>
            <a:fillRect/>
          </a:stretch>
        </p:blipFill>
        <p:spPr>
          <a:xfrm>
            <a:off x="502920" y="5779008"/>
            <a:ext cx="237744" cy="237744"/>
          </a:xfrm>
          <a:prstGeom prst="rect">
            <a:avLst/>
          </a:prstGeom>
        </p:spPr>
      </p:pic>
      <p:sp>
        <p:nvSpPr>
          <p:cNvPr id="30" name="TextBox 29"/>
          <p:cNvSpPr txBox="1"/>
          <p:nvPr/>
        </p:nvSpPr>
        <p:spPr>
          <a:xfrm>
            <a:off x="868680" y="5742432"/>
            <a:ext cx="10789920" cy="502920"/>
          </a:xfrm>
          <a:prstGeom prst="rect">
            <a:avLst/>
          </a:prstGeom>
          <a:noFill/>
        </p:spPr>
        <p:txBody>
          <a:bodyPr wrap="square" anchor="t" lIns="0" rIns="0" tIns="0" bIns="0">
            <a:noAutofit/>
          </a:bodyPr>
          <a:lstStyle/>
          <a:p>
            <a:pPr algn="l"/>
            <a:r>
              <a:rPr sz="1200" b="1" i="0">
                <a:solidFill>
                  <a:srgbClr val="040037"/>
                </a:solidFill>
                <a:latin typeface="Figtree"/>
              </a:rPr>
              <a:t>So what — </a:t>
            </a:r>
            <a:r>
              <a:rPr sz="1200" b="0" i="0">
                <a:solidFill>
                  <a:srgbClr val="4F4C73"/>
                </a:solidFill>
                <a:latin typeface="Figtree"/>
              </a:rPr>
              <a:t>[IMPLICATION for assortment, pricing or communication next month.]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an_light.png"/>
          <p:cNvPicPr>
            <a:picLocks noChangeAspect="1"/>
          </p:cNvPicPr>
          <p:nvPr/>
        </p:nvPicPr>
        <p:blipFill>
          <a:blip r:embed="rId2"/>
          <a:stretch>
            <a:fillRect/>
          </a:stretch>
        </p:blipFill>
        <p:spPr>
          <a:xfrm>
            <a:off x="10271455" y="0"/>
            <a:ext cx="1920240" cy="1920240"/>
          </a:xfrm>
          <a:prstGeom prst="rect">
            <a:avLst/>
          </a:prstGeom>
        </p:spPr>
      </p:pic>
      <p:pic>
        <p:nvPicPr>
          <p:cNvPr id="3" name="Picture 2" descr="glyph_blue.png"/>
          <p:cNvPicPr>
            <a:picLocks noChangeAspect="1"/>
          </p:cNvPicPr>
          <p:nvPr/>
        </p:nvPicPr>
        <p:blipFill>
          <a:blip r:embed="rId3"/>
          <a:stretch>
            <a:fillRect/>
          </a:stretch>
        </p:blipFill>
        <p:spPr>
          <a:xfrm>
            <a:off x="502920" y="512064"/>
            <a:ext cx="274320" cy="274320"/>
          </a:xfrm>
          <a:prstGeom prst="rect">
            <a:avLst/>
          </a:prstGeom>
        </p:spPr>
      </p:pic>
      <p:sp>
        <p:nvSpPr>
          <p:cNvPr id="4" name="TextBox 3"/>
          <p:cNvSpPr txBox="1"/>
          <p:nvPr/>
        </p:nvSpPr>
        <p:spPr>
          <a:xfrm>
            <a:off x="886968" y="429768"/>
            <a:ext cx="9144000" cy="274320"/>
          </a:xfrm>
          <a:prstGeom prst="rect">
            <a:avLst/>
          </a:prstGeom>
          <a:noFill/>
        </p:spPr>
        <p:txBody>
          <a:bodyPr wrap="square" anchor="t" lIns="0" rIns="0" tIns="0" bIns="0">
            <a:noAutofit/>
          </a:bodyPr>
          <a:lstStyle/>
          <a:p>
            <a:pPr algn="l"/>
            <a:r>
              <a:rPr sz="1050" b="1" i="0" spc="280">
                <a:solidFill>
                  <a:srgbClr val="006EFB"/>
                </a:solidFill>
                <a:latin typeface="Figtree"/>
              </a:rPr>
              <a:t>07 — SOCIAL &amp; DIGITAL · REDES Y DIGITAL</a:t>
            </a:r>
          </a:p>
        </p:txBody>
      </p:sp>
      <p:sp>
        <p:nvSpPr>
          <p:cNvPr id="5" name="TextBox 4"/>
          <p:cNvSpPr txBox="1"/>
          <p:nvPr/>
        </p:nvSpPr>
        <p:spPr>
          <a:xfrm>
            <a:off x="868680" y="676656"/>
            <a:ext cx="9601200" cy="594360"/>
          </a:xfrm>
          <a:prstGeom prst="rect">
            <a:avLst/>
          </a:prstGeom>
          <a:noFill/>
        </p:spPr>
        <p:txBody>
          <a:bodyPr wrap="square" anchor="t" lIns="0" rIns="0" tIns="0" bIns="0">
            <a:noAutofit/>
          </a:bodyPr>
          <a:lstStyle/>
          <a:p>
            <a:pPr algn="l"/>
            <a:r>
              <a:rPr sz="2700" b="1" i="0">
                <a:solidFill>
                  <a:srgbClr val="040037"/>
                </a:solidFill>
                <a:latin typeface="Figtree"/>
              </a:rPr>
              <a:t>Social &amp; Digital</a:t>
            </a:r>
          </a:p>
        </p:txBody>
      </p:sp>
      <p:cxnSp>
        <p:nvCxnSpPr>
          <p:cNvPr id="6" name="Connector 5"/>
          <p:cNvCxnSpPr/>
          <p:nvPr/>
        </p:nvCxnSpPr>
        <p:spPr>
          <a:xfrm>
            <a:off x="502920" y="1389888"/>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73952"/>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47104"/>
            <a:ext cx="5486400" cy="274320"/>
          </a:xfrm>
          <a:prstGeom prst="rect">
            <a:avLst/>
          </a:prstGeom>
          <a:noFill/>
        </p:spPr>
        <p:txBody>
          <a:bodyPr wrap="square" anchor="t" lIns="0" rIns="0" tIns="0" bIns="0">
            <a:noAutofit/>
          </a:bodyPr>
          <a:lstStyle/>
          <a:p>
            <a:pPr algn="l"/>
            <a:r>
              <a:rPr sz="750" b="1" i="0" spc="200">
                <a:solidFill>
                  <a:srgbClr val="8E8CA5"/>
                </a:solidFill>
                <a:latin typeface="Figtree"/>
              </a:rPr>
              <a:t>GRUPO ONE × KIABI</a:t>
            </a:r>
            <a:r>
              <a:rPr sz="750" b="0" i="0" spc="200">
                <a:solidFill>
                  <a:srgbClr val="8E8CA5"/>
                </a:solidFill>
                <a:latin typeface="Figtree"/>
              </a:rPr>
              <a:t>   ·   CONFIDENTIAL — FOR KIABI HQ</a:t>
            </a:r>
          </a:p>
        </p:txBody>
      </p:sp>
      <p:sp>
        <p:nvSpPr>
          <p:cNvPr id="9" name="TextBox 8"/>
          <p:cNvSpPr txBox="1"/>
          <p:nvPr/>
        </p:nvSpPr>
        <p:spPr>
          <a:xfrm>
            <a:off x="8031175" y="6547104"/>
            <a:ext cx="3657600" cy="274320"/>
          </a:xfrm>
          <a:prstGeom prst="rect">
            <a:avLst/>
          </a:prstGeom>
          <a:noFill/>
        </p:spPr>
        <p:txBody>
          <a:bodyPr wrap="square" anchor="t" lIns="0" rIns="0" tIns="0" bIns="0">
            <a:noAutofit/>
          </a:bodyPr>
          <a:lstStyle/>
          <a:p>
            <a:pPr algn="r"/>
            <a:r>
              <a:rPr sz="750" b="0" i="0" spc="200">
                <a:solidFill>
                  <a:srgbClr val="8E8CA5"/>
                </a:solidFill>
                <a:latin typeface="Figtree"/>
              </a:rPr>
              <a:t>[MONTH YEAR]   ·   </a:t>
            </a:r>
            <a:r>
              <a:rPr sz="750" b="1" i="0" spc="200">
                <a:solidFill>
                  <a:srgbClr val="8E8CA5"/>
                </a:solidFill>
                <a:latin typeface="Figtree"/>
              </a:rPr>
              <a:t>07 / 10</a:t>
            </a:r>
          </a:p>
        </p:txBody>
      </p:sp>
      <p:sp>
        <p:nvSpPr>
          <p:cNvPr id="10" name="Rounded Rectangle 9"/>
          <p:cNvSpPr/>
          <p:nvPr/>
        </p:nvSpPr>
        <p:spPr>
          <a:xfrm>
            <a:off x="502920" y="1664208"/>
            <a:ext cx="2670048" cy="1481328"/>
          </a:xfrm>
          <a:prstGeom prst="roundRect">
            <a:avLst>
              <a:gd name="adj" fmla="val 9000"/>
            </a:avLst>
          </a:prstGeom>
          <a:solidFill>
            <a:srgbClr val="FFFFFF"/>
          </a:solidFill>
          <a:ln w="12700">
            <a:solidFill>
              <a:srgbClr val="D9D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664208"/>
            <a:ext cx="2670048" cy="64008"/>
          </a:xfrm>
          <a:prstGeom prst="rect">
            <a:avLst/>
          </a:prstGeom>
          <a:solidFill>
            <a:srgbClr val="006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847088"/>
            <a:ext cx="2304288" cy="256032"/>
          </a:xfrm>
          <a:prstGeom prst="rect">
            <a:avLst/>
          </a:prstGeom>
          <a:noFill/>
        </p:spPr>
        <p:txBody>
          <a:bodyPr wrap="square" anchor="t" lIns="0" rIns="0" tIns="0" bIns="0">
            <a:noAutofit/>
          </a:bodyPr>
          <a:lstStyle/>
          <a:p>
            <a:pPr algn="l"/>
            <a:r>
              <a:rPr sz="950" b="1" i="0" spc="200">
                <a:solidFill>
                  <a:srgbClr val="8E8CA5"/>
                </a:solidFill>
                <a:latin typeface="Figtree"/>
              </a:rPr>
              <a:t>INSTAGRAM</a:t>
            </a:r>
          </a:p>
        </p:txBody>
      </p:sp>
      <p:sp>
        <p:nvSpPr>
          <p:cNvPr id="13" name="TextBox 12"/>
          <p:cNvSpPr txBox="1"/>
          <p:nvPr/>
        </p:nvSpPr>
        <p:spPr>
          <a:xfrm>
            <a:off x="685800" y="2121408"/>
            <a:ext cx="2304288" cy="502920"/>
          </a:xfrm>
          <a:prstGeom prst="rect">
            <a:avLst/>
          </a:prstGeom>
          <a:noFill/>
        </p:spPr>
        <p:txBody>
          <a:bodyPr wrap="square" anchor="t" lIns="0" rIns="0" tIns="0" bIns="0">
            <a:noAutofit/>
          </a:bodyPr>
          <a:lstStyle/>
          <a:p>
            <a:pPr algn="l"/>
            <a:r>
              <a:rPr sz="2400" b="1" i="0">
                <a:solidFill>
                  <a:srgbClr val="040037"/>
                </a:solidFill>
                <a:latin typeface="Figtree"/>
              </a:rPr>
              <a:t>[METRIC]</a:t>
            </a:r>
          </a:p>
        </p:txBody>
      </p:sp>
      <p:sp>
        <p:nvSpPr>
          <p:cNvPr id="14" name="TextBox 13"/>
          <p:cNvSpPr txBox="1"/>
          <p:nvPr/>
        </p:nvSpPr>
        <p:spPr>
          <a:xfrm>
            <a:off x="685800" y="2670048"/>
            <a:ext cx="2304288" cy="320040"/>
          </a:xfrm>
          <a:prstGeom prst="rect">
            <a:avLst/>
          </a:prstGeom>
          <a:noFill/>
        </p:spPr>
        <p:txBody>
          <a:bodyPr wrap="square" anchor="t" lIns="0" rIns="0" tIns="0" bIns="0">
            <a:noAutofit/>
          </a:bodyPr>
          <a:lstStyle/>
          <a:p>
            <a:pPr algn="l"/>
            <a:r>
              <a:rPr sz="950" b="1" i="0">
                <a:solidFill>
                  <a:srgbClr val="20B14A"/>
                </a:solidFill>
                <a:latin typeface="Figtree"/>
              </a:rPr>
              <a:t>▲ [+X%]  </a:t>
            </a:r>
            <a:r>
              <a:rPr sz="900" b="0" i="0" spc="80">
                <a:solidFill>
                  <a:srgbClr val="4F4C73"/>
                </a:solidFill>
                <a:latin typeface="Figtree"/>
              </a:rPr>
              <a:t>ENG. [X.X%]</a:t>
            </a:r>
          </a:p>
        </p:txBody>
      </p:sp>
      <p:sp>
        <p:nvSpPr>
          <p:cNvPr id="15" name="Rounded Rectangle 14"/>
          <p:cNvSpPr/>
          <p:nvPr/>
        </p:nvSpPr>
        <p:spPr>
          <a:xfrm>
            <a:off x="3344418" y="1664208"/>
            <a:ext cx="2670048" cy="1481328"/>
          </a:xfrm>
          <a:prstGeom prst="roundRect">
            <a:avLst>
              <a:gd name="adj" fmla="val 9000"/>
            </a:avLst>
          </a:prstGeom>
          <a:solidFill>
            <a:srgbClr val="FFFFFF"/>
          </a:solidFill>
          <a:ln w="12700">
            <a:solidFill>
              <a:srgbClr val="D9D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4418" y="1664208"/>
            <a:ext cx="2670048" cy="64008"/>
          </a:xfrm>
          <a:prstGeom prst="rect">
            <a:avLst/>
          </a:prstGeom>
          <a:solidFill>
            <a:srgbClr val="0400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7298" y="1847088"/>
            <a:ext cx="2304288" cy="256032"/>
          </a:xfrm>
          <a:prstGeom prst="rect">
            <a:avLst/>
          </a:prstGeom>
          <a:noFill/>
        </p:spPr>
        <p:txBody>
          <a:bodyPr wrap="square" anchor="t" lIns="0" rIns="0" tIns="0" bIns="0">
            <a:noAutofit/>
          </a:bodyPr>
          <a:lstStyle/>
          <a:p>
            <a:pPr algn="l"/>
            <a:r>
              <a:rPr sz="950" b="1" i="0" spc="200">
                <a:solidFill>
                  <a:srgbClr val="8E8CA5"/>
                </a:solidFill>
                <a:latin typeface="Figtree"/>
              </a:rPr>
              <a:t>TIKTOK</a:t>
            </a:r>
          </a:p>
        </p:txBody>
      </p:sp>
      <p:sp>
        <p:nvSpPr>
          <p:cNvPr id="18" name="TextBox 17"/>
          <p:cNvSpPr txBox="1"/>
          <p:nvPr/>
        </p:nvSpPr>
        <p:spPr>
          <a:xfrm>
            <a:off x="3527298" y="2121408"/>
            <a:ext cx="2304288" cy="502920"/>
          </a:xfrm>
          <a:prstGeom prst="rect">
            <a:avLst/>
          </a:prstGeom>
          <a:noFill/>
        </p:spPr>
        <p:txBody>
          <a:bodyPr wrap="square" anchor="t" lIns="0" rIns="0" tIns="0" bIns="0">
            <a:noAutofit/>
          </a:bodyPr>
          <a:lstStyle/>
          <a:p>
            <a:pPr algn="l"/>
            <a:r>
              <a:rPr sz="2400" b="1" i="0">
                <a:solidFill>
                  <a:srgbClr val="040037"/>
                </a:solidFill>
                <a:latin typeface="Figtree"/>
              </a:rPr>
              <a:t>[METRIC]</a:t>
            </a:r>
          </a:p>
        </p:txBody>
      </p:sp>
      <p:sp>
        <p:nvSpPr>
          <p:cNvPr id="19" name="TextBox 18"/>
          <p:cNvSpPr txBox="1"/>
          <p:nvPr/>
        </p:nvSpPr>
        <p:spPr>
          <a:xfrm>
            <a:off x="3527298" y="2670048"/>
            <a:ext cx="2304288" cy="320040"/>
          </a:xfrm>
          <a:prstGeom prst="rect">
            <a:avLst/>
          </a:prstGeom>
          <a:noFill/>
        </p:spPr>
        <p:txBody>
          <a:bodyPr wrap="square" anchor="t" lIns="0" rIns="0" tIns="0" bIns="0">
            <a:noAutofit/>
          </a:bodyPr>
          <a:lstStyle/>
          <a:p>
            <a:pPr algn="l"/>
            <a:r>
              <a:rPr sz="950" b="1" i="0">
                <a:solidFill>
                  <a:srgbClr val="20B14A"/>
                </a:solidFill>
                <a:latin typeface="Figtree"/>
              </a:rPr>
              <a:t>▲ [+X%]  </a:t>
            </a:r>
            <a:r>
              <a:rPr sz="900" b="0" i="0" spc="80">
                <a:solidFill>
                  <a:srgbClr val="4F4C73"/>
                </a:solidFill>
                <a:latin typeface="Figtree"/>
              </a:rPr>
              <a:t>ENG. [X.X%]</a:t>
            </a:r>
          </a:p>
        </p:txBody>
      </p:sp>
      <p:sp>
        <p:nvSpPr>
          <p:cNvPr id="20" name="Rounded Rectangle 19"/>
          <p:cNvSpPr/>
          <p:nvPr/>
        </p:nvSpPr>
        <p:spPr>
          <a:xfrm>
            <a:off x="6185916" y="1664208"/>
            <a:ext cx="2670048" cy="1481328"/>
          </a:xfrm>
          <a:prstGeom prst="roundRect">
            <a:avLst>
              <a:gd name="adj" fmla="val 9000"/>
            </a:avLst>
          </a:prstGeom>
          <a:solidFill>
            <a:srgbClr val="FFFFFF"/>
          </a:solidFill>
          <a:ln w="12700">
            <a:solidFill>
              <a:srgbClr val="D9D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5916" y="1664208"/>
            <a:ext cx="2670048" cy="64008"/>
          </a:xfrm>
          <a:prstGeom prst="rect">
            <a:avLst/>
          </a:prstGeom>
          <a:solidFill>
            <a:srgbClr val="20B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1847088"/>
            <a:ext cx="2304288" cy="256032"/>
          </a:xfrm>
          <a:prstGeom prst="rect">
            <a:avLst/>
          </a:prstGeom>
          <a:noFill/>
        </p:spPr>
        <p:txBody>
          <a:bodyPr wrap="square" anchor="t" lIns="0" rIns="0" tIns="0" bIns="0">
            <a:noAutofit/>
          </a:bodyPr>
          <a:lstStyle/>
          <a:p>
            <a:pPr algn="l"/>
            <a:r>
              <a:rPr sz="950" b="1" i="0" spc="200">
                <a:solidFill>
                  <a:srgbClr val="8E8CA5"/>
                </a:solidFill>
                <a:latin typeface="Figtree"/>
              </a:rPr>
              <a:t>FACEBOOK</a:t>
            </a:r>
          </a:p>
        </p:txBody>
      </p:sp>
      <p:sp>
        <p:nvSpPr>
          <p:cNvPr id="23" name="TextBox 22"/>
          <p:cNvSpPr txBox="1"/>
          <p:nvPr/>
        </p:nvSpPr>
        <p:spPr>
          <a:xfrm>
            <a:off x="6368796" y="2121408"/>
            <a:ext cx="2304288" cy="502920"/>
          </a:xfrm>
          <a:prstGeom prst="rect">
            <a:avLst/>
          </a:prstGeom>
          <a:noFill/>
        </p:spPr>
        <p:txBody>
          <a:bodyPr wrap="square" anchor="t" lIns="0" rIns="0" tIns="0" bIns="0">
            <a:noAutofit/>
          </a:bodyPr>
          <a:lstStyle/>
          <a:p>
            <a:pPr algn="l"/>
            <a:r>
              <a:rPr sz="2400" b="1" i="0">
                <a:solidFill>
                  <a:srgbClr val="040037"/>
                </a:solidFill>
                <a:latin typeface="Figtree"/>
              </a:rPr>
              <a:t>[METRIC]</a:t>
            </a:r>
          </a:p>
        </p:txBody>
      </p:sp>
      <p:sp>
        <p:nvSpPr>
          <p:cNvPr id="24" name="TextBox 23"/>
          <p:cNvSpPr txBox="1"/>
          <p:nvPr/>
        </p:nvSpPr>
        <p:spPr>
          <a:xfrm>
            <a:off x="6368796" y="2670048"/>
            <a:ext cx="2304288" cy="320040"/>
          </a:xfrm>
          <a:prstGeom prst="rect">
            <a:avLst/>
          </a:prstGeom>
          <a:noFill/>
        </p:spPr>
        <p:txBody>
          <a:bodyPr wrap="square" anchor="t" lIns="0" rIns="0" tIns="0" bIns="0">
            <a:noAutofit/>
          </a:bodyPr>
          <a:lstStyle/>
          <a:p>
            <a:pPr algn="l"/>
            <a:r>
              <a:rPr sz="950" b="1" i="0">
                <a:solidFill>
                  <a:srgbClr val="20B14A"/>
                </a:solidFill>
                <a:latin typeface="Figtree"/>
              </a:rPr>
              <a:t>▲ [+X%]  </a:t>
            </a:r>
            <a:r>
              <a:rPr sz="900" b="0" i="0" spc="80">
                <a:solidFill>
                  <a:srgbClr val="4F4C73"/>
                </a:solidFill>
                <a:latin typeface="Figtree"/>
              </a:rPr>
              <a:t>ENG. [X.X%]</a:t>
            </a:r>
          </a:p>
        </p:txBody>
      </p:sp>
      <p:sp>
        <p:nvSpPr>
          <p:cNvPr id="25" name="Rounded Rectangle 24"/>
          <p:cNvSpPr/>
          <p:nvPr/>
        </p:nvSpPr>
        <p:spPr>
          <a:xfrm>
            <a:off x="9027414" y="1664208"/>
            <a:ext cx="2670048" cy="1481328"/>
          </a:xfrm>
          <a:prstGeom prst="roundRect">
            <a:avLst>
              <a:gd name="adj" fmla="val 9000"/>
            </a:avLst>
          </a:prstGeom>
          <a:solidFill>
            <a:srgbClr val="FFFFFF"/>
          </a:solidFill>
          <a:ln w="12700">
            <a:solidFill>
              <a:srgbClr val="D9D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27414" y="1664208"/>
            <a:ext cx="2670048" cy="64008"/>
          </a:xfrm>
          <a:prstGeom prst="rect">
            <a:avLst/>
          </a:prstGeom>
          <a:solidFill>
            <a:srgbClr val="FB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0294" y="1847088"/>
            <a:ext cx="2304288" cy="256032"/>
          </a:xfrm>
          <a:prstGeom prst="rect">
            <a:avLst/>
          </a:prstGeom>
          <a:noFill/>
        </p:spPr>
        <p:txBody>
          <a:bodyPr wrap="square" anchor="t" lIns="0" rIns="0" tIns="0" bIns="0">
            <a:noAutofit/>
          </a:bodyPr>
          <a:lstStyle/>
          <a:p>
            <a:pPr algn="l"/>
            <a:r>
              <a:rPr sz="950" b="1" i="0" spc="200">
                <a:solidFill>
                  <a:srgbClr val="8E8CA5"/>
                </a:solidFill>
                <a:latin typeface="Figtree"/>
              </a:rPr>
              <a:t>WHATSAPP / CRM</a:t>
            </a:r>
          </a:p>
        </p:txBody>
      </p:sp>
      <p:sp>
        <p:nvSpPr>
          <p:cNvPr id="28" name="TextBox 27"/>
          <p:cNvSpPr txBox="1"/>
          <p:nvPr/>
        </p:nvSpPr>
        <p:spPr>
          <a:xfrm>
            <a:off x="9210294" y="2121408"/>
            <a:ext cx="2304288" cy="502920"/>
          </a:xfrm>
          <a:prstGeom prst="rect">
            <a:avLst/>
          </a:prstGeom>
          <a:noFill/>
        </p:spPr>
        <p:txBody>
          <a:bodyPr wrap="square" anchor="t" lIns="0" rIns="0" tIns="0" bIns="0">
            <a:noAutofit/>
          </a:bodyPr>
          <a:lstStyle/>
          <a:p>
            <a:pPr algn="l"/>
            <a:r>
              <a:rPr sz="2400" b="1" i="0">
                <a:solidFill>
                  <a:srgbClr val="040037"/>
                </a:solidFill>
                <a:latin typeface="Figtree"/>
              </a:rPr>
              <a:t>[METRIC]</a:t>
            </a:r>
          </a:p>
        </p:txBody>
      </p:sp>
      <p:sp>
        <p:nvSpPr>
          <p:cNvPr id="29" name="TextBox 28"/>
          <p:cNvSpPr txBox="1"/>
          <p:nvPr/>
        </p:nvSpPr>
        <p:spPr>
          <a:xfrm>
            <a:off x="9210294" y="2670048"/>
            <a:ext cx="2304288" cy="320040"/>
          </a:xfrm>
          <a:prstGeom prst="rect">
            <a:avLst/>
          </a:prstGeom>
          <a:noFill/>
        </p:spPr>
        <p:txBody>
          <a:bodyPr wrap="square" anchor="t" lIns="0" rIns="0" tIns="0" bIns="0">
            <a:noAutofit/>
          </a:bodyPr>
          <a:lstStyle/>
          <a:p>
            <a:pPr algn="l"/>
            <a:r>
              <a:rPr sz="950" b="1" i="0">
                <a:solidFill>
                  <a:srgbClr val="20B14A"/>
                </a:solidFill>
                <a:latin typeface="Figtree"/>
              </a:rPr>
              <a:t>▲ [+X%]  </a:t>
            </a:r>
            <a:r>
              <a:rPr sz="900" b="0" i="0" spc="80">
                <a:solidFill>
                  <a:srgbClr val="4F4C73"/>
                </a:solidFill>
                <a:latin typeface="Figtree"/>
              </a:rPr>
              <a:t>ENG. [X.X%]</a:t>
            </a:r>
          </a:p>
        </p:txBody>
      </p:sp>
      <p:sp>
        <p:nvSpPr>
          <p:cNvPr id="30" name="TextBox 29"/>
          <p:cNvSpPr txBox="1"/>
          <p:nvPr/>
        </p:nvSpPr>
        <p:spPr>
          <a:xfrm>
            <a:off x="502920" y="3401568"/>
            <a:ext cx="6858000" cy="274320"/>
          </a:xfrm>
          <a:prstGeom prst="rect">
            <a:avLst/>
          </a:prstGeom>
          <a:noFill/>
        </p:spPr>
        <p:txBody>
          <a:bodyPr wrap="square" anchor="t" lIns="0" rIns="0" tIns="0" bIns="0">
            <a:noAutofit/>
          </a:bodyPr>
          <a:lstStyle/>
          <a:p>
            <a:pPr algn="l"/>
            <a:r>
              <a:rPr sz="1000" b="1" i="0" spc="250">
                <a:solidFill>
                  <a:srgbClr val="006EFB"/>
                </a:solidFill>
                <a:latin typeface="Figtree"/>
              </a:rPr>
              <a:t>SHARE OF ENGAGEMENT BY PLATFORM</a:t>
            </a:r>
          </a:p>
        </p:txBody>
      </p:sp>
      <p:sp>
        <p:nvSpPr>
          <p:cNvPr id="31" name="TextBox 30"/>
          <p:cNvSpPr txBox="1"/>
          <p:nvPr/>
        </p:nvSpPr>
        <p:spPr>
          <a:xfrm>
            <a:off x="502920" y="3840479"/>
            <a:ext cx="1645920" cy="274320"/>
          </a:xfrm>
          <a:prstGeom prst="rect">
            <a:avLst/>
          </a:prstGeom>
          <a:noFill/>
        </p:spPr>
        <p:txBody>
          <a:bodyPr wrap="square" anchor="t" lIns="0" rIns="0" tIns="0" bIns="0">
            <a:noAutofit/>
          </a:bodyPr>
          <a:lstStyle/>
          <a:p>
            <a:pPr algn="l"/>
            <a:r>
              <a:rPr sz="850" b="1" i="0" spc="80">
                <a:solidFill>
                  <a:srgbClr val="4F4C73"/>
                </a:solidFill>
                <a:latin typeface="Figtree"/>
              </a:rPr>
              <a:t>INSTAGRAM</a:t>
            </a:r>
          </a:p>
        </p:txBody>
      </p:sp>
      <p:sp>
        <p:nvSpPr>
          <p:cNvPr id="32" name="Rounded Rectangle 31"/>
          <p:cNvSpPr/>
          <p:nvPr/>
        </p:nvSpPr>
        <p:spPr>
          <a:xfrm>
            <a:off x="2240280" y="3822191"/>
            <a:ext cx="4297680" cy="274320"/>
          </a:xfrm>
          <a:prstGeom prst="roundRect">
            <a:avLst>
              <a:gd name="adj" fmla="val 50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240280" y="3822191"/>
            <a:ext cx="3438144" cy="274320"/>
          </a:xfrm>
          <a:prstGeom prst="roundRect">
            <a:avLst>
              <a:gd name="adj" fmla="val 50000"/>
            </a:avLst>
          </a:prstGeom>
          <a:solidFill>
            <a:srgbClr val="006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88152" y="3840479"/>
            <a:ext cx="822960" cy="274320"/>
          </a:xfrm>
          <a:prstGeom prst="rect">
            <a:avLst/>
          </a:prstGeom>
          <a:noFill/>
        </p:spPr>
        <p:txBody>
          <a:bodyPr wrap="square" anchor="t" lIns="0" rIns="0" tIns="0" bIns="0">
            <a:noAutofit/>
          </a:bodyPr>
          <a:lstStyle/>
          <a:p>
            <a:pPr algn="l"/>
            <a:r>
              <a:rPr sz="950" b="1" i="0">
                <a:solidFill>
                  <a:srgbClr val="040037"/>
                </a:solidFill>
                <a:latin typeface="Figtree"/>
              </a:rPr>
              <a:t>[X%]</a:t>
            </a:r>
          </a:p>
        </p:txBody>
      </p:sp>
      <p:sp>
        <p:nvSpPr>
          <p:cNvPr id="35" name="TextBox 34"/>
          <p:cNvSpPr txBox="1"/>
          <p:nvPr/>
        </p:nvSpPr>
        <p:spPr>
          <a:xfrm>
            <a:off x="502920" y="4425695"/>
            <a:ext cx="1645920" cy="274320"/>
          </a:xfrm>
          <a:prstGeom prst="rect">
            <a:avLst/>
          </a:prstGeom>
          <a:noFill/>
        </p:spPr>
        <p:txBody>
          <a:bodyPr wrap="square" anchor="t" lIns="0" rIns="0" tIns="0" bIns="0">
            <a:noAutofit/>
          </a:bodyPr>
          <a:lstStyle/>
          <a:p>
            <a:pPr algn="l"/>
            <a:r>
              <a:rPr sz="850" b="1" i="0" spc="80">
                <a:solidFill>
                  <a:srgbClr val="4F4C73"/>
                </a:solidFill>
                <a:latin typeface="Figtree"/>
              </a:rPr>
              <a:t>TIKTOK</a:t>
            </a:r>
          </a:p>
        </p:txBody>
      </p:sp>
      <p:sp>
        <p:nvSpPr>
          <p:cNvPr id="36" name="Rounded Rectangle 35"/>
          <p:cNvSpPr/>
          <p:nvPr/>
        </p:nvSpPr>
        <p:spPr>
          <a:xfrm>
            <a:off x="2240280" y="4407407"/>
            <a:ext cx="4297680" cy="274320"/>
          </a:xfrm>
          <a:prstGeom prst="roundRect">
            <a:avLst>
              <a:gd name="adj" fmla="val 50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240280" y="4407407"/>
            <a:ext cx="2492654" cy="274320"/>
          </a:xfrm>
          <a:prstGeom prst="roundRect">
            <a:avLst>
              <a:gd name="adj" fmla="val 50000"/>
            </a:avLst>
          </a:prstGeom>
          <a:solidFill>
            <a:srgbClr val="0400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2662" y="4425695"/>
            <a:ext cx="822960" cy="274320"/>
          </a:xfrm>
          <a:prstGeom prst="rect">
            <a:avLst/>
          </a:prstGeom>
          <a:noFill/>
        </p:spPr>
        <p:txBody>
          <a:bodyPr wrap="square" anchor="t" lIns="0" rIns="0" tIns="0" bIns="0">
            <a:noAutofit/>
          </a:bodyPr>
          <a:lstStyle/>
          <a:p>
            <a:pPr algn="l"/>
            <a:r>
              <a:rPr sz="950" b="1" i="0">
                <a:solidFill>
                  <a:srgbClr val="040037"/>
                </a:solidFill>
                <a:latin typeface="Figtree"/>
              </a:rPr>
              <a:t>[X%]</a:t>
            </a:r>
          </a:p>
        </p:txBody>
      </p:sp>
      <p:sp>
        <p:nvSpPr>
          <p:cNvPr id="39" name="TextBox 38"/>
          <p:cNvSpPr txBox="1"/>
          <p:nvPr/>
        </p:nvSpPr>
        <p:spPr>
          <a:xfrm>
            <a:off x="502920" y="5010912"/>
            <a:ext cx="1645920" cy="274320"/>
          </a:xfrm>
          <a:prstGeom prst="rect">
            <a:avLst/>
          </a:prstGeom>
          <a:noFill/>
        </p:spPr>
        <p:txBody>
          <a:bodyPr wrap="square" anchor="t" lIns="0" rIns="0" tIns="0" bIns="0">
            <a:noAutofit/>
          </a:bodyPr>
          <a:lstStyle/>
          <a:p>
            <a:pPr algn="l"/>
            <a:r>
              <a:rPr sz="850" b="1" i="0" spc="80">
                <a:solidFill>
                  <a:srgbClr val="4F4C73"/>
                </a:solidFill>
                <a:latin typeface="Figtree"/>
              </a:rPr>
              <a:t>FACEBOOK</a:t>
            </a:r>
          </a:p>
        </p:txBody>
      </p:sp>
      <p:sp>
        <p:nvSpPr>
          <p:cNvPr id="40" name="Rounded Rectangle 39"/>
          <p:cNvSpPr/>
          <p:nvPr/>
        </p:nvSpPr>
        <p:spPr>
          <a:xfrm>
            <a:off x="2240280" y="4992624"/>
            <a:ext cx="4297680" cy="274320"/>
          </a:xfrm>
          <a:prstGeom prst="roundRect">
            <a:avLst>
              <a:gd name="adj" fmla="val 50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2240280" y="4992624"/>
            <a:ext cx="1547164" cy="274320"/>
          </a:xfrm>
          <a:prstGeom prst="roundRect">
            <a:avLst>
              <a:gd name="adj" fmla="val 50000"/>
            </a:avLst>
          </a:prstGeom>
          <a:solidFill>
            <a:srgbClr val="20B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97172" y="5010912"/>
            <a:ext cx="822960" cy="274320"/>
          </a:xfrm>
          <a:prstGeom prst="rect">
            <a:avLst/>
          </a:prstGeom>
          <a:noFill/>
        </p:spPr>
        <p:txBody>
          <a:bodyPr wrap="square" anchor="t" lIns="0" rIns="0" tIns="0" bIns="0">
            <a:noAutofit/>
          </a:bodyPr>
          <a:lstStyle/>
          <a:p>
            <a:pPr algn="l"/>
            <a:r>
              <a:rPr sz="950" b="1" i="0">
                <a:solidFill>
                  <a:srgbClr val="040037"/>
                </a:solidFill>
                <a:latin typeface="Figtree"/>
              </a:rPr>
              <a:t>[X%]</a:t>
            </a:r>
          </a:p>
        </p:txBody>
      </p:sp>
      <p:sp>
        <p:nvSpPr>
          <p:cNvPr id="43" name="TextBox 42"/>
          <p:cNvSpPr txBox="1"/>
          <p:nvPr/>
        </p:nvSpPr>
        <p:spPr>
          <a:xfrm>
            <a:off x="502920" y="5596127"/>
            <a:ext cx="1645920" cy="274320"/>
          </a:xfrm>
          <a:prstGeom prst="rect">
            <a:avLst/>
          </a:prstGeom>
          <a:noFill/>
        </p:spPr>
        <p:txBody>
          <a:bodyPr wrap="square" anchor="t" lIns="0" rIns="0" tIns="0" bIns="0">
            <a:noAutofit/>
          </a:bodyPr>
          <a:lstStyle/>
          <a:p>
            <a:pPr algn="l"/>
            <a:r>
              <a:rPr sz="850" b="1" i="0" spc="80">
                <a:solidFill>
                  <a:srgbClr val="4F4C73"/>
                </a:solidFill>
                <a:latin typeface="Figtree"/>
              </a:rPr>
              <a:t>WHATSAPP / CRM</a:t>
            </a:r>
          </a:p>
        </p:txBody>
      </p:sp>
      <p:sp>
        <p:nvSpPr>
          <p:cNvPr id="44" name="Rounded Rectangle 43"/>
          <p:cNvSpPr/>
          <p:nvPr/>
        </p:nvSpPr>
        <p:spPr>
          <a:xfrm>
            <a:off x="2240280" y="5577840"/>
            <a:ext cx="4297680" cy="274320"/>
          </a:xfrm>
          <a:prstGeom prst="roundRect">
            <a:avLst>
              <a:gd name="adj" fmla="val 50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2240280" y="5577840"/>
            <a:ext cx="945489" cy="274320"/>
          </a:xfrm>
          <a:prstGeom prst="roundRect">
            <a:avLst>
              <a:gd name="adj" fmla="val 50000"/>
            </a:avLst>
          </a:prstGeom>
          <a:solidFill>
            <a:srgbClr val="FB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95497" y="5596127"/>
            <a:ext cx="822960" cy="274320"/>
          </a:xfrm>
          <a:prstGeom prst="rect">
            <a:avLst/>
          </a:prstGeom>
          <a:noFill/>
        </p:spPr>
        <p:txBody>
          <a:bodyPr wrap="square" anchor="t" lIns="0" rIns="0" tIns="0" bIns="0">
            <a:noAutofit/>
          </a:bodyPr>
          <a:lstStyle/>
          <a:p>
            <a:pPr algn="l"/>
            <a:r>
              <a:rPr sz="950" b="1" i="0">
                <a:solidFill>
                  <a:srgbClr val="040037"/>
                </a:solidFill>
                <a:latin typeface="Figtree"/>
              </a:rPr>
              <a:t>[X%]</a:t>
            </a:r>
          </a:p>
        </p:txBody>
      </p:sp>
      <p:sp>
        <p:nvSpPr>
          <p:cNvPr id="47" name="Rounded Rectangle 46"/>
          <p:cNvSpPr/>
          <p:nvPr/>
        </p:nvSpPr>
        <p:spPr>
          <a:xfrm>
            <a:off x="7726679" y="3401568"/>
            <a:ext cx="3959352" cy="2834640"/>
          </a:xfrm>
          <a:prstGeom prst="roundRect">
            <a:avLst>
              <a:gd name="adj" fmla="val 7000"/>
            </a:avLst>
          </a:prstGeom>
          <a:solidFill>
            <a:srgbClr val="ED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82712" y="3593592"/>
            <a:ext cx="3474720" cy="274320"/>
          </a:xfrm>
          <a:prstGeom prst="rect">
            <a:avLst/>
          </a:prstGeom>
          <a:noFill/>
        </p:spPr>
        <p:txBody>
          <a:bodyPr wrap="square" anchor="t" lIns="0" rIns="0" tIns="0" bIns="0">
            <a:noAutofit/>
          </a:bodyPr>
          <a:lstStyle/>
          <a:p>
            <a:pPr algn="l"/>
            <a:r>
              <a:rPr sz="950" b="1" i="0" spc="250">
                <a:solidFill>
                  <a:srgbClr val="006EFB"/>
                </a:solidFill>
                <a:latin typeface="Figtree"/>
              </a:rPr>
              <a:t>CONTENT HIGHLIGHT</a:t>
            </a:r>
          </a:p>
        </p:txBody>
      </p:sp>
      <p:sp>
        <p:nvSpPr>
          <p:cNvPr id="49" name="Rounded Rectangle 48"/>
          <p:cNvSpPr/>
          <p:nvPr/>
        </p:nvSpPr>
        <p:spPr>
          <a:xfrm>
            <a:off x="7982712" y="3913632"/>
            <a:ext cx="1783080" cy="1783080"/>
          </a:xfrm>
          <a:prstGeom prst="roundRect">
            <a:avLst>
              <a:gd name="adj" fmla="val 6000"/>
            </a:avLst>
          </a:prstGeom>
          <a:solidFill>
            <a:srgbClr val="FFFFFF"/>
          </a:solidFill>
          <a:ln w="15875">
            <a:solidFill>
              <a:srgbClr val="8CBDF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82712" y="4526280"/>
            <a:ext cx="1783080" cy="548640"/>
          </a:xfrm>
          <a:prstGeom prst="rect">
            <a:avLst/>
          </a:prstGeom>
          <a:noFill/>
        </p:spPr>
        <p:txBody>
          <a:bodyPr wrap="square" anchor="t" lIns="0" rIns="0" tIns="0" bIns="0">
            <a:noAutofit/>
          </a:bodyPr>
          <a:lstStyle/>
          <a:p>
            <a:pPr algn="ctr">
              <a:lnSpc>
                <a:spcPct val="110000"/>
              </a:lnSpc>
            </a:pPr>
            <a:r>
              <a:rPr sz="800" b="1" i="0" spc="100">
                <a:solidFill>
                  <a:srgbClr val="66A8FC"/>
                </a:solidFill>
                <a:latin typeface="Figtree"/>
              </a:rPr>
              <a:t>DROP CREATIVE</a:t>
            </a:r>
          </a:p>
          <a:p>
            <a:pPr algn="ctr">
              <a:lnSpc>
                <a:spcPct val="110000"/>
              </a:lnSpc>
            </a:pPr>
            <a:r>
              <a:rPr sz="800" b="1" i="0" spc="100">
                <a:solidFill>
                  <a:srgbClr val="66A8FC"/>
                </a:solidFill>
                <a:latin typeface="Figtree"/>
              </a:rPr>
              <a:t>HERE</a:t>
            </a:r>
          </a:p>
        </p:txBody>
      </p:sp>
      <p:sp>
        <p:nvSpPr>
          <p:cNvPr id="51" name="TextBox 50"/>
          <p:cNvSpPr txBox="1"/>
          <p:nvPr/>
        </p:nvSpPr>
        <p:spPr>
          <a:xfrm>
            <a:off x="9921240" y="3950208"/>
            <a:ext cx="1600200" cy="1280160"/>
          </a:xfrm>
          <a:prstGeom prst="rect">
            <a:avLst/>
          </a:prstGeom>
          <a:noFill/>
        </p:spPr>
        <p:txBody>
          <a:bodyPr wrap="square" anchor="t" lIns="0" rIns="0" tIns="0" bIns="0">
            <a:noAutofit/>
          </a:bodyPr>
          <a:lstStyle/>
          <a:p>
            <a:pPr algn="l">
              <a:lnSpc>
                <a:spcPct val="115000"/>
              </a:lnSpc>
            </a:pPr>
            <a:r>
              <a:rPr sz="950" b="0" i="0">
                <a:solidFill>
                  <a:srgbClr val="4F4C73"/>
                </a:solidFill>
                <a:latin typeface="Figtree"/>
              </a:rPr>
              <a:t>[BEST POST — reach, saves, sentiment]</a:t>
            </a:r>
          </a:p>
        </p:txBody>
      </p:sp>
      <p:sp>
        <p:nvSpPr>
          <p:cNvPr id="52" name="TextBox 51"/>
          <p:cNvSpPr txBox="1"/>
          <p:nvPr/>
        </p:nvSpPr>
        <p:spPr>
          <a:xfrm>
            <a:off x="7982712" y="5779008"/>
            <a:ext cx="3474720" cy="365760"/>
          </a:xfrm>
          <a:prstGeom prst="rect">
            <a:avLst/>
          </a:prstGeom>
          <a:noFill/>
        </p:spPr>
        <p:txBody>
          <a:bodyPr wrap="square" anchor="t" lIns="0" rIns="0" tIns="0" bIns="0">
            <a:noAutofit/>
          </a:bodyPr>
          <a:lstStyle/>
          <a:p>
            <a:pPr algn="l"/>
            <a:r>
              <a:rPr sz="850" b="1" i="0" spc="80">
                <a:solidFill>
                  <a:srgbClr val="006EFB"/>
                </a:solidFill>
                <a:latin typeface="Figtree"/>
              </a:rPr>
              <a:t>[LINK OR CAMPAIGN NAME]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an_light.png"/>
          <p:cNvPicPr>
            <a:picLocks noChangeAspect="1"/>
          </p:cNvPicPr>
          <p:nvPr/>
        </p:nvPicPr>
        <p:blipFill>
          <a:blip r:embed="rId2"/>
          <a:stretch>
            <a:fillRect/>
          </a:stretch>
        </p:blipFill>
        <p:spPr>
          <a:xfrm>
            <a:off x="10271455" y="0"/>
            <a:ext cx="1920240" cy="1920240"/>
          </a:xfrm>
          <a:prstGeom prst="rect">
            <a:avLst/>
          </a:prstGeom>
        </p:spPr>
      </p:pic>
      <p:pic>
        <p:nvPicPr>
          <p:cNvPr id="3" name="Picture 2" descr="glyph_red.png"/>
          <p:cNvPicPr>
            <a:picLocks noChangeAspect="1"/>
          </p:cNvPicPr>
          <p:nvPr/>
        </p:nvPicPr>
        <p:blipFill>
          <a:blip r:embed="rId3"/>
          <a:stretch>
            <a:fillRect/>
          </a:stretch>
        </p:blipFill>
        <p:spPr>
          <a:xfrm>
            <a:off x="502920" y="512064"/>
            <a:ext cx="274320" cy="274320"/>
          </a:xfrm>
          <a:prstGeom prst="rect">
            <a:avLst/>
          </a:prstGeom>
        </p:spPr>
      </p:pic>
      <p:sp>
        <p:nvSpPr>
          <p:cNvPr id="4" name="TextBox 3"/>
          <p:cNvSpPr txBox="1"/>
          <p:nvPr/>
        </p:nvSpPr>
        <p:spPr>
          <a:xfrm>
            <a:off x="886968" y="429768"/>
            <a:ext cx="9144000" cy="274320"/>
          </a:xfrm>
          <a:prstGeom prst="rect">
            <a:avLst/>
          </a:prstGeom>
          <a:noFill/>
        </p:spPr>
        <p:txBody>
          <a:bodyPr wrap="square" anchor="t" lIns="0" rIns="0" tIns="0" bIns="0">
            <a:noAutofit/>
          </a:bodyPr>
          <a:lstStyle/>
          <a:p>
            <a:pPr algn="l"/>
            <a:r>
              <a:rPr sz="1050" b="1" i="0" spc="280">
                <a:solidFill>
                  <a:srgbClr val="E91B2E"/>
                </a:solidFill>
                <a:latin typeface="Figtree"/>
              </a:rPr>
              <a:t>08 — DÉFIS &amp; RISQUES · DESAFÍOS Y RIESGOS</a:t>
            </a:r>
          </a:p>
        </p:txBody>
      </p:sp>
      <p:sp>
        <p:nvSpPr>
          <p:cNvPr id="5" name="TextBox 4"/>
          <p:cNvSpPr txBox="1"/>
          <p:nvPr/>
        </p:nvSpPr>
        <p:spPr>
          <a:xfrm>
            <a:off x="868680" y="676656"/>
            <a:ext cx="9601200" cy="594360"/>
          </a:xfrm>
          <a:prstGeom prst="rect">
            <a:avLst/>
          </a:prstGeom>
          <a:noFill/>
        </p:spPr>
        <p:txBody>
          <a:bodyPr wrap="square" anchor="t" lIns="0" rIns="0" tIns="0" bIns="0">
            <a:noAutofit/>
          </a:bodyPr>
          <a:lstStyle/>
          <a:p>
            <a:pPr algn="l"/>
            <a:r>
              <a:rPr sz="2700" b="1" i="0">
                <a:solidFill>
                  <a:srgbClr val="040037"/>
                </a:solidFill>
                <a:latin typeface="Figtree"/>
              </a:rPr>
              <a:t>Challenges &amp; Risks</a:t>
            </a:r>
          </a:p>
        </p:txBody>
      </p:sp>
      <p:cxnSp>
        <p:nvCxnSpPr>
          <p:cNvPr id="6" name="Connector 5"/>
          <p:cNvCxnSpPr/>
          <p:nvPr/>
        </p:nvCxnSpPr>
        <p:spPr>
          <a:xfrm>
            <a:off x="502920" y="1389888"/>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73952"/>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47104"/>
            <a:ext cx="5486400" cy="274320"/>
          </a:xfrm>
          <a:prstGeom prst="rect">
            <a:avLst/>
          </a:prstGeom>
          <a:noFill/>
        </p:spPr>
        <p:txBody>
          <a:bodyPr wrap="square" anchor="t" lIns="0" rIns="0" tIns="0" bIns="0">
            <a:noAutofit/>
          </a:bodyPr>
          <a:lstStyle/>
          <a:p>
            <a:pPr algn="l"/>
            <a:r>
              <a:rPr sz="750" b="1" i="0" spc="200">
                <a:solidFill>
                  <a:srgbClr val="8E8CA5"/>
                </a:solidFill>
                <a:latin typeface="Figtree"/>
              </a:rPr>
              <a:t>GRUPO ONE × KIABI</a:t>
            </a:r>
            <a:r>
              <a:rPr sz="750" b="0" i="0" spc="200">
                <a:solidFill>
                  <a:srgbClr val="8E8CA5"/>
                </a:solidFill>
                <a:latin typeface="Figtree"/>
              </a:rPr>
              <a:t>   ·   CONFIDENTIAL — FOR KIABI HQ</a:t>
            </a:r>
          </a:p>
        </p:txBody>
      </p:sp>
      <p:sp>
        <p:nvSpPr>
          <p:cNvPr id="9" name="TextBox 8"/>
          <p:cNvSpPr txBox="1"/>
          <p:nvPr/>
        </p:nvSpPr>
        <p:spPr>
          <a:xfrm>
            <a:off x="8031175" y="6547104"/>
            <a:ext cx="3657600" cy="274320"/>
          </a:xfrm>
          <a:prstGeom prst="rect">
            <a:avLst/>
          </a:prstGeom>
          <a:noFill/>
        </p:spPr>
        <p:txBody>
          <a:bodyPr wrap="square" anchor="t" lIns="0" rIns="0" tIns="0" bIns="0">
            <a:noAutofit/>
          </a:bodyPr>
          <a:lstStyle/>
          <a:p>
            <a:pPr algn="r"/>
            <a:r>
              <a:rPr sz="750" b="0" i="0" spc="200">
                <a:solidFill>
                  <a:srgbClr val="8E8CA5"/>
                </a:solidFill>
                <a:latin typeface="Figtree"/>
              </a:rPr>
              <a:t>[MONTH YEAR]   ·   </a:t>
            </a:r>
            <a:r>
              <a:rPr sz="750" b="1" i="0" spc="200">
                <a:solidFill>
                  <a:srgbClr val="8E8CA5"/>
                </a:solidFill>
                <a:latin typeface="Figtree"/>
              </a:rPr>
              <a:t>08 / 10</a:t>
            </a:r>
          </a:p>
        </p:txBody>
      </p:sp>
      <p:sp>
        <p:nvSpPr>
          <p:cNvPr id="10" name="Rounded Rectangle 9"/>
          <p:cNvSpPr/>
          <p:nvPr/>
        </p:nvSpPr>
        <p:spPr>
          <a:xfrm>
            <a:off x="502920" y="1691640"/>
            <a:ext cx="6263640" cy="1371600"/>
          </a:xfrm>
          <a:prstGeom prst="roundRect">
            <a:avLst>
              <a:gd name="adj" fmla="val 8000"/>
            </a:avLst>
          </a:prstGeom>
          <a:solidFill>
            <a:srgbClr val="FFFFFF"/>
          </a:solidFill>
          <a:ln w="12700">
            <a:solidFill>
              <a:srgbClr val="D9D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691640"/>
            <a:ext cx="82296" cy="1371600"/>
          </a:xfrm>
          <a:prstGeom prst="rect">
            <a:avLst/>
          </a:prstGeom>
          <a:solidFill>
            <a:srgbClr val="E9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1892808"/>
            <a:ext cx="960120" cy="310896"/>
          </a:xfrm>
          <a:prstGeom prst="roundRect">
            <a:avLst>
              <a:gd name="adj" fmla="val 50000"/>
            </a:avLst>
          </a:prstGeom>
          <a:solidFill>
            <a:srgbClr val="E9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850" b="1" spc="150">
                <a:solidFill>
                  <a:srgbClr val="FFFFFF"/>
                </a:solidFill>
                <a:latin typeface="Figtree"/>
              </a:rPr>
              <a:t>HIGH</a:t>
            </a:r>
          </a:p>
        </p:txBody>
      </p:sp>
      <p:sp>
        <p:nvSpPr>
          <p:cNvPr id="13" name="TextBox 12"/>
          <p:cNvSpPr txBox="1"/>
          <p:nvPr/>
        </p:nvSpPr>
        <p:spPr>
          <a:xfrm>
            <a:off x="1938528" y="1892808"/>
            <a:ext cx="4663440" cy="320040"/>
          </a:xfrm>
          <a:prstGeom prst="rect">
            <a:avLst/>
          </a:prstGeom>
          <a:noFill/>
        </p:spPr>
        <p:txBody>
          <a:bodyPr wrap="square" anchor="t" lIns="0" rIns="0" tIns="0" bIns="0">
            <a:noAutofit/>
          </a:bodyPr>
          <a:lstStyle/>
          <a:p>
            <a:pPr algn="l"/>
            <a:r>
              <a:rPr sz="1200" b="1" i="0">
                <a:solidFill>
                  <a:srgbClr val="040037"/>
                </a:solidFill>
                <a:latin typeface="Figtree"/>
              </a:rPr>
              <a:t>[RISK 1 — name the challenge honestly]</a:t>
            </a:r>
          </a:p>
        </p:txBody>
      </p:sp>
      <p:sp>
        <p:nvSpPr>
          <p:cNvPr id="14" name="TextBox 13"/>
          <p:cNvSpPr txBox="1"/>
          <p:nvPr/>
        </p:nvSpPr>
        <p:spPr>
          <a:xfrm>
            <a:off x="804672" y="2313432"/>
            <a:ext cx="5715000" cy="658368"/>
          </a:xfrm>
          <a:prstGeom prst="rect">
            <a:avLst/>
          </a:prstGeom>
          <a:noFill/>
        </p:spPr>
        <p:txBody>
          <a:bodyPr wrap="square" anchor="t" lIns="0" rIns="0" tIns="0" bIns="0">
            <a:noAutofit/>
          </a:bodyPr>
          <a:lstStyle/>
          <a:p>
            <a:pPr algn="l">
              <a:lnSpc>
                <a:spcPct val="112000"/>
              </a:lnSpc>
            </a:pPr>
            <a:r>
              <a:rPr sz="1050" b="0" i="0">
                <a:solidFill>
                  <a:srgbClr val="4F4C73"/>
                </a:solidFill>
                <a:latin typeface="Figtree"/>
              </a:rPr>
              <a:t>[DESCRIPTION — impact on sales, opening date or brand, and likelihood.]</a:t>
            </a:r>
          </a:p>
        </p:txBody>
      </p:sp>
      <p:sp>
        <p:nvSpPr>
          <p:cNvPr id="15" name="Rounded Rectangle 14"/>
          <p:cNvSpPr/>
          <p:nvPr/>
        </p:nvSpPr>
        <p:spPr>
          <a:xfrm>
            <a:off x="6967728" y="1691640"/>
            <a:ext cx="4718304" cy="1371600"/>
          </a:xfrm>
          <a:prstGeom prst="roundRect">
            <a:avLst>
              <a:gd name="adj" fmla="val 8000"/>
            </a:avLst>
          </a:prstGeom>
          <a:solidFill>
            <a:srgbClr val="EF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42048" y="1856232"/>
            <a:ext cx="4206240" cy="256032"/>
          </a:xfrm>
          <a:prstGeom prst="rect">
            <a:avLst/>
          </a:prstGeom>
          <a:noFill/>
        </p:spPr>
        <p:txBody>
          <a:bodyPr wrap="square" anchor="t" lIns="0" rIns="0" tIns="0" bIns="0">
            <a:noAutofit/>
          </a:bodyPr>
          <a:lstStyle/>
          <a:p>
            <a:pPr algn="l"/>
            <a:r>
              <a:rPr sz="900" b="1" i="0" spc="200">
                <a:solidFill>
                  <a:srgbClr val="20B14A"/>
                </a:solidFill>
                <a:latin typeface="Figtree"/>
              </a:rPr>
              <a:t>→  MITIGATION</a:t>
            </a:r>
          </a:p>
        </p:txBody>
      </p:sp>
      <p:sp>
        <p:nvSpPr>
          <p:cNvPr id="17" name="TextBox 16"/>
          <p:cNvSpPr txBox="1"/>
          <p:nvPr/>
        </p:nvSpPr>
        <p:spPr>
          <a:xfrm>
            <a:off x="7242048" y="2148840"/>
            <a:ext cx="4206240" cy="566928"/>
          </a:xfrm>
          <a:prstGeom prst="rect">
            <a:avLst/>
          </a:prstGeom>
          <a:noFill/>
        </p:spPr>
        <p:txBody>
          <a:bodyPr wrap="square" anchor="t" lIns="0" rIns="0" tIns="0" bIns="0">
            <a:noAutofit/>
          </a:bodyPr>
          <a:lstStyle/>
          <a:p>
            <a:pPr algn="l">
              <a:lnSpc>
                <a:spcPct val="112000"/>
              </a:lnSpc>
            </a:pPr>
            <a:r>
              <a:rPr sz="1050" b="0" i="0">
                <a:solidFill>
                  <a:srgbClr val="4F4C73"/>
                </a:solidFill>
                <a:latin typeface="Figtree"/>
              </a:rPr>
              <a:t>[ACTION — what we are doing about it]</a:t>
            </a:r>
          </a:p>
        </p:txBody>
      </p:sp>
      <p:sp>
        <p:nvSpPr>
          <p:cNvPr id="18" name="TextBox 17"/>
          <p:cNvSpPr txBox="1"/>
          <p:nvPr/>
        </p:nvSpPr>
        <p:spPr>
          <a:xfrm>
            <a:off x="7242048" y="2734056"/>
            <a:ext cx="4206240" cy="256032"/>
          </a:xfrm>
          <a:prstGeom prst="rect">
            <a:avLst/>
          </a:prstGeom>
          <a:noFill/>
        </p:spPr>
        <p:txBody>
          <a:bodyPr wrap="square" anchor="t" lIns="0" rIns="0" tIns="0" bIns="0">
            <a:noAutofit/>
          </a:bodyPr>
          <a:lstStyle/>
          <a:p>
            <a:pPr algn="l"/>
            <a:r>
              <a:rPr sz="800" b="0" i="0" spc="100">
                <a:solidFill>
                  <a:srgbClr val="8E8CA5"/>
                </a:solidFill>
                <a:latin typeface="Figtree"/>
              </a:rPr>
              <a:t>OWNER: [NAME] · DUE: [DATE]</a:t>
            </a:r>
          </a:p>
        </p:txBody>
      </p:sp>
      <p:sp>
        <p:nvSpPr>
          <p:cNvPr id="19" name="Rounded Rectangle 18"/>
          <p:cNvSpPr/>
          <p:nvPr/>
        </p:nvSpPr>
        <p:spPr>
          <a:xfrm>
            <a:off x="502920" y="3209544"/>
            <a:ext cx="6263640" cy="1371600"/>
          </a:xfrm>
          <a:prstGeom prst="roundRect">
            <a:avLst>
              <a:gd name="adj" fmla="val 8000"/>
            </a:avLst>
          </a:prstGeom>
          <a:solidFill>
            <a:srgbClr val="FFFFFF"/>
          </a:solidFill>
          <a:ln w="12700">
            <a:solidFill>
              <a:srgbClr val="D9D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09544"/>
            <a:ext cx="82296" cy="1371600"/>
          </a:xfrm>
          <a:prstGeom prst="rect">
            <a:avLst/>
          </a:prstGeom>
          <a:solidFill>
            <a:srgbClr val="FFD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4672" y="3410712"/>
            <a:ext cx="960120" cy="310896"/>
          </a:xfrm>
          <a:prstGeom prst="roundRect">
            <a:avLst>
              <a:gd name="adj" fmla="val 50000"/>
            </a:avLst>
          </a:prstGeom>
          <a:solidFill>
            <a:srgbClr val="FFD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850" b="1" spc="150">
                <a:solidFill>
                  <a:srgbClr val="040037"/>
                </a:solidFill>
                <a:latin typeface="Figtree"/>
              </a:rPr>
              <a:t>MEDIUM</a:t>
            </a:r>
          </a:p>
        </p:txBody>
      </p:sp>
      <p:sp>
        <p:nvSpPr>
          <p:cNvPr id="22" name="TextBox 21"/>
          <p:cNvSpPr txBox="1"/>
          <p:nvPr/>
        </p:nvSpPr>
        <p:spPr>
          <a:xfrm>
            <a:off x="1938528" y="3410712"/>
            <a:ext cx="4663440" cy="320040"/>
          </a:xfrm>
          <a:prstGeom prst="rect">
            <a:avLst/>
          </a:prstGeom>
          <a:noFill/>
        </p:spPr>
        <p:txBody>
          <a:bodyPr wrap="square" anchor="t" lIns="0" rIns="0" tIns="0" bIns="0">
            <a:noAutofit/>
          </a:bodyPr>
          <a:lstStyle/>
          <a:p>
            <a:pPr algn="l"/>
            <a:r>
              <a:rPr sz="1200" b="1" i="0">
                <a:solidFill>
                  <a:srgbClr val="040037"/>
                </a:solidFill>
                <a:latin typeface="Figtree"/>
              </a:rPr>
              <a:t>[RISK 2 — name the challenge honestly]</a:t>
            </a:r>
          </a:p>
        </p:txBody>
      </p:sp>
      <p:sp>
        <p:nvSpPr>
          <p:cNvPr id="23" name="TextBox 22"/>
          <p:cNvSpPr txBox="1"/>
          <p:nvPr/>
        </p:nvSpPr>
        <p:spPr>
          <a:xfrm>
            <a:off x="804672" y="3831335"/>
            <a:ext cx="5715000" cy="658368"/>
          </a:xfrm>
          <a:prstGeom prst="rect">
            <a:avLst/>
          </a:prstGeom>
          <a:noFill/>
        </p:spPr>
        <p:txBody>
          <a:bodyPr wrap="square" anchor="t" lIns="0" rIns="0" tIns="0" bIns="0">
            <a:noAutofit/>
          </a:bodyPr>
          <a:lstStyle/>
          <a:p>
            <a:pPr algn="l">
              <a:lnSpc>
                <a:spcPct val="112000"/>
              </a:lnSpc>
            </a:pPr>
            <a:r>
              <a:rPr sz="1050" b="0" i="0">
                <a:solidFill>
                  <a:srgbClr val="4F4C73"/>
                </a:solidFill>
                <a:latin typeface="Figtree"/>
              </a:rPr>
              <a:t>[DESCRIPTION — impact on sales, opening date or brand, and likelihood.]</a:t>
            </a:r>
          </a:p>
        </p:txBody>
      </p:sp>
      <p:sp>
        <p:nvSpPr>
          <p:cNvPr id="24" name="Rounded Rectangle 23"/>
          <p:cNvSpPr/>
          <p:nvPr/>
        </p:nvSpPr>
        <p:spPr>
          <a:xfrm>
            <a:off x="6967728" y="3209544"/>
            <a:ext cx="4718304" cy="1371600"/>
          </a:xfrm>
          <a:prstGeom prst="roundRect">
            <a:avLst>
              <a:gd name="adj" fmla="val 8000"/>
            </a:avLst>
          </a:prstGeom>
          <a:solidFill>
            <a:srgbClr val="EF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42048" y="3374136"/>
            <a:ext cx="4206240" cy="256032"/>
          </a:xfrm>
          <a:prstGeom prst="rect">
            <a:avLst/>
          </a:prstGeom>
          <a:noFill/>
        </p:spPr>
        <p:txBody>
          <a:bodyPr wrap="square" anchor="t" lIns="0" rIns="0" tIns="0" bIns="0">
            <a:noAutofit/>
          </a:bodyPr>
          <a:lstStyle/>
          <a:p>
            <a:pPr algn="l"/>
            <a:r>
              <a:rPr sz="900" b="1" i="0" spc="200">
                <a:solidFill>
                  <a:srgbClr val="20B14A"/>
                </a:solidFill>
                <a:latin typeface="Figtree"/>
              </a:rPr>
              <a:t>→  MITIGATION</a:t>
            </a:r>
          </a:p>
        </p:txBody>
      </p:sp>
      <p:sp>
        <p:nvSpPr>
          <p:cNvPr id="26" name="TextBox 25"/>
          <p:cNvSpPr txBox="1"/>
          <p:nvPr/>
        </p:nvSpPr>
        <p:spPr>
          <a:xfrm>
            <a:off x="7242048" y="3666744"/>
            <a:ext cx="4206240" cy="566928"/>
          </a:xfrm>
          <a:prstGeom prst="rect">
            <a:avLst/>
          </a:prstGeom>
          <a:noFill/>
        </p:spPr>
        <p:txBody>
          <a:bodyPr wrap="square" anchor="t" lIns="0" rIns="0" tIns="0" bIns="0">
            <a:noAutofit/>
          </a:bodyPr>
          <a:lstStyle/>
          <a:p>
            <a:pPr algn="l">
              <a:lnSpc>
                <a:spcPct val="112000"/>
              </a:lnSpc>
            </a:pPr>
            <a:r>
              <a:rPr sz="1050" b="0" i="0">
                <a:solidFill>
                  <a:srgbClr val="4F4C73"/>
                </a:solidFill>
                <a:latin typeface="Figtree"/>
              </a:rPr>
              <a:t>[ACTION — what we are doing about it]</a:t>
            </a:r>
          </a:p>
        </p:txBody>
      </p:sp>
      <p:sp>
        <p:nvSpPr>
          <p:cNvPr id="27" name="TextBox 26"/>
          <p:cNvSpPr txBox="1"/>
          <p:nvPr/>
        </p:nvSpPr>
        <p:spPr>
          <a:xfrm>
            <a:off x="7242048" y="4251959"/>
            <a:ext cx="4206240" cy="256032"/>
          </a:xfrm>
          <a:prstGeom prst="rect">
            <a:avLst/>
          </a:prstGeom>
          <a:noFill/>
        </p:spPr>
        <p:txBody>
          <a:bodyPr wrap="square" anchor="t" lIns="0" rIns="0" tIns="0" bIns="0">
            <a:noAutofit/>
          </a:bodyPr>
          <a:lstStyle/>
          <a:p>
            <a:pPr algn="l"/>
            <a:r>
              <a:rPr sz="800" b="0" i="0" spc="100">
                <a:solidFill>
                  <a:srgbClr val="8E8CA5"/>
                </a:solidFill>
                <a:latin typeface="Figtree"/>
              </a:rPr>
              <a:t>OWNER: [NAME] · DUE: [DATE]</a:t>
            </a:r>
          </a:p>
        </p:txBody>
      </p:sp>
      <p:sp>
        <p:nvSpPr>
          <p:cNvPr id="28" name="Rounded Rectangle 27"/>
          <p:cNvSpPr/>
          <p:nvPr/>
        </p:nvSpPr>
        <p:spPr>
          <a:xfrm>
            <a:off x="502920" y="4727448"/>
            <a:ext cx="6263640" cy="1371600"/>
          </a:xfrm>
          <a:prstGeom prst="roundRect">
            <a:avLst>
              <a:gd name="adj" fmla="val 8000"/>
            </a:avLst>
          </a:prstGeom>
          <a:solidFill>
            <a:srgbClr val="FFFFFF"/>
          </a:solidFill>
          <a:ln w="12700">
            <a:solidFill>
              <a:srgbClr val="D9D8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4727448"/>
            <a:ext cx="82296" cy="1371600"/>
          </a:xfrm>
          <a:prstGeom prst="rect">
            <a:avLst/>
          </a:prstGeom>
          <a:solidFill>
            <a:srgbClr val="20B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928616"/>
            <a:ext cx="960120" cy="310896"/>
          </a:xfrm>
          <a:prstGeom prst="roundRect">
            <a:avLst>
              <a:gd name="adj" fmla="val 50000"/>
            </a:avLst>
          </a:prstGeom>
          <a:solidFill>
            <a:srgbClr val="20B1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850" b="1" spc="150">
                <a:solidFill>
                  <a:srgbClr val="FFFFFF"/>
                </a:solidFill>
                <a:latin typeface="Figtree"/>
              </a:rPr>
              <a:t>LOW</a:t>
            </a:r>
          </a:p>
        </p:txBody>
      </p:sp>
      <p:sp>
        <p:nvSpPr>
          <p:cNvPr id="31" name="TextBox 30"/>
          <p:cNvSpPr txBox="1"/>
          <p:nvPr/>
        </p:nvSpPr>
        <p:spPr>
          <a:xfrm>
            <a:off x="1938528" y="4928616"/>
            <a:ext cx="4663440" cy="320040"/>
          </a:xfrm>
          <a:prstGeom prst="rect">
            <a:avLst/>
          </a:prstGeom>
          <a:noFill/>
        </p:spPr>
        <p:txBody>
          <a:bodyPr wrap="square" anchor="t" lIns="0" rIns="0" tIns="0" bIns="0">
            <a:noAutofit/>
          </a:bodyPr>
          <a:lstStyle/>
          <a:p>
            <a:pPr algn="l"/>
            <a:r>
              <a:rPr sz="1200" b="1" i="0">
                <a:solidFill>
                  <a:srgbClr val="040037"/>
                </a:solidFill>
                <a:latin typeface="Figtree"/>
              </a:rPr>
              <a:t>[RISK 3 — name the challenge honestly]</a:t>
            </a:r>
          </a:p>
        </p:txBody>
      </p:sp>
      <p:sp>
        <p:nvSpPr>
          <p:cNvPr id="32" name="TextBox 31"/>
          <p:cNvSpPr txBox="1"/>
          <p:nvPr/>
        </p:nvSpPr>
        <p:spPr>
          <a:xfrm>
            <a:off x="804672" y="5349240"/>
            <a:ext cx="5715000" cy="658368"/>
          </a:xfrm>
          <a:prstGeom prst="rect">
            <a:avLst/>
          </a:prstGeom>
          <a:noFill/>
        </p:spPr>
        <p:txBody>
          <a:bodyPr wrap="square" anchor="t" lIns="0" rIns="0" tIns="0" bIns="0">
            <a:noAutofit/>
          </a:bodyPr>
          <a:lstStyle/>
          <a:p>
            <a:pPr algn="l">
              <a:lnSpc>
                <a:spcPct val="112000"/>
              </a:lnSpc>
            </a:pPr>
            <a:r>
              <a:rPr sz="1050" b="0" i="0">
                <a:solidFill>
                  <a:srgbClr val="4F4C73"/>
                </a:solidFill>
                <a:latin typeface="Figtree"/>
              </a:rPr>
              <a:t>[DESCRIPTION — impact on sales, opening date or brand, and likelihood.]</a:t>
            </a:r>
          </a:p>
        </p:txBody>
      </p:sp>
      <p:sp>
        <p:nvSpPr>
          <p:cNvPr id="33" name="Rounded Rectangle 32"/>
          <p:cNvSpPr/>
          <p:nvPr/>
        </p:nvSpPr>
        <p:spPr>
          <a:xfrm>
            <a:off x="6967728" y="4727448"/>
            <a:ext cx="4718304" cy="1371600"/>
          </a:xfrm>
          <a:prstGeom prst="roundRect">
            <a:avLst>
              <a:gd name="adj" fmla="val 8000"/>
            </a:avLst>
          </a:prstGeom>
          <a:solidFill>
            <a:srgbClr val="EF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42048" y="4892040"/>
            <a:ext cx="4206240" cy="256032"/>
          </a:xfrm>
          <a:prstGeom prst="rect">
            <a:avLst/>
          </a:prstGeom>
          <a:noFill/>
        </p:spPr>
        <p:txBody>
          <a:bodyPr wrap="square" anchor="t" lIns="0" rIns="0" tIns="0" bIns="0">
            <a:noAutofit/>
          </a:bodyPr>
          <a:lstStyle/>
          <a:p>
            <a:pPr algn="l"/>
            <a:r>
              <a:rPr sz="900" b="1" i="0" spc="200">
                <a:solidFill>
                  <a:srgbClr val="20B14A"/>
                </a:solidFill>
                <a:latin typeface="Figtree"/>
              </a:rPr>
              <a:t>→  MITIGATION</a:t>
            </a:r>
          </a:p>
        </p:txBody>
      </p:sp>
      <p:sp>
        <p:nvSpPr>
          <p:cNvPr id="35" name="TextBox 34"/>
          <p:cNvSpPr txBox="1"/>
          <p:nvPr/>
        </p:nvSpPr>
        <p:spPr>
          <a:xfrm>
            <a:off x="7242048" y="5184648"/>
            <a:ext cx="4206240" cy="566928"/>
          </a:xfrm>
          <a:prstGeom prst="rect">
            <a:avLst/>
          </a:prstGeom>
          <a:noFill/>
        </p:spPr>
        <p:txBody>
          <a:bodyPr wrap="square" anchor="t" lIns="0" rIns="0" tIns="0" bIns="0">
            <a:noAutofit/>
          </a:bodyPr>
          <a:lstStyle/>
          <a:p>
            <a:pPr algn="l">
              <a:lnSpc>
                <a:spcPct val="112000"/>
              </a:lnSpc>
            </a:pPr>
            <a:r>
              <a:rPr sz="1050" b="0" i="0">
                <a:solidFill>
                  <a:srgbClr val="4F4C73"/>
                </a:solidFill>
                <a:latin typeface="Figtree"/>
              </a:rPr>
              <a:t>[ACTION — what we are doing about it]</a:t>
            </a:r>
          </a:p>
        </p:txBody>
      </p:sp>
      <p:sp>
        <p:nvSpPr>
          <p:cNvPr id="36" name="TextBox 35"/>
          <p:cNvSpPr txBox="1"/>
          <p:nvPr/>
        </p:nvSpPr>
        <p:spPr>
          <a:xfrm>
            <a:off x="7242048" y="5769864"/>
            <a:ext cx="4206240" cy="256032"/>
          </a:xfrm>
          <a:prstGeom prst="rect">
            <a:avLst/>
          </a:prstGeom>
          <a:noFill/>
        </p:spPr>
        <p:txBody>
          <a:bodyPr wrap="square" anchor="t" lIns="0" rIns="0" tIns="0" bIns="0">
            <a:noAutofit/>
          </a:bodyPr>
          <a:lstStyle/>
          <a:p>
            <a:pPr algn="l"/>
            <a:r>
              <a:rPr sz="800" b="0" i="0" spc="100">
                <a:solidFill>
                  <a:srgbClr val="8E8CA5"/>
                </a:solidFill>
                <a:latin typeface="Figtree"/>
              </a:rPr>
              <a:t>OWNER: [NAME] · DUE: [DATE]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an_light.png"/>
          <p:cNvPicPr>
            <a:picLocks noChangeAspect="1"/>
          </p:cNvPicPr>
          <p:nvPr/>
        </p:nvPicPr>
        <p:blipFill>
          <a:blip r:embed="rId2"/>
          <a:stretch>
            <a:fillRect/>
          </a:stretch>
        </p:blipFill>
        <p:spPr>
          <a:xfrm>
            <a:off x="10271455" y="0"/>
            <a:ext cx="1920240" cy="1920240"/>
          </a:xfrm>
          <a:prstGeom prst="rect">
            <a:avLst/>
          </a:prstGeom>
        </p:spPr>
      </p:pic>
      <p:pic>
        <p:nvPicPr>
          <p:cNvPr id="3" name="Picture 2" descr="glyph_green.png"/>
          <p:cNvPicPr>
            <a:picLocks noChangeAspect="1"/>
          </p:cNvPicPr>
          <p:nvPr/>
        </p:nvPicPr>
        <p:blipFill>
          <a:blip r:embed="rId3"/>
          <a:stretch>
            <a:fillRect/>
          </a:stretch>
        </p:blipFill>
        <p:spPr>
          <a:xfrm>
            <a:off x="502920" y="512064"/>
            <a:ext cx="274320" cy="274320"/>
          </a:xfrm>
          <a:prstGeom prst="rect">
            <a:avLst/>
          </a:prstGeom>
        </p:spPr>
      </p:pic>
      <p:sp>
        <p:nvSpPr>
          <p:cNvPr id="4" name="TextBox 3"/>
          <p:cNvSpPr txBox="1"/>
          <p:nvPr/>
        </p:nvSpPr>
        <p:spPr>
          <a:xfrm>
            <a:off x="886968" y="429768"/>
            <a:ext cx="9144000" cy="274320"/>
          </a:xfrm>
          <a:prstGeom prst="rect">
            <a:avLst/>
          </a:prstGeom>
          <a:noFill/>
        </p:spPr>
        <p:txBody>
          <a:bodyPr wrap="square" anchor="t" lIns="0" rIns="0" tIns="0" bIns="0">
            <a:noAutofit/>
          </a:bodyPr>
          <a:lstStyle/>
          <a:p>
            <a:pPr algn="l"/>
            <a:r>
              <a:rPr sz="1050" b="1" i="0" spc="280">
                <a:solidFill>
                  <a:srgbClr val="20B14A"/>
                </a:solidFill>
                <a:latin typeface="Figtree"/>
              </a:rPr>
              <a:t>09 — PROCHAINES ÉTAPES · PRÓXIMOS PASOS</a:t>
            </a:r>
          </a:p>
        </p:txBody>
      </p:sp>
      <p:sp>
        <p:nvSpPr>
          <p:cNvPr id="5" name="TextBox 4"/>
          <p:cNvSpPr txBox="1"/>
          <p:nvPr/>
        </p:nvSpPr>
        <p:spPr>
          <a:xfrm>
            <a:off x="868680" y="676656"/>
            <a:ext cx="9601200" cy="594360"/>
          </a:xfrm>
          <a:prstGeom prst="rect">
            <a:avLst/>
          </a:prstGeom>
          <a:noFill/>
        </p:spPr>
        <p:txBody>
          <a:bodyPr wrap="square" anchor="t" lIns="0" rIns="0" tIns="0" bIns="0">
            <a:noAutofit/>
          </a:bodyPr>
          <a:lstStyle/>
          <a:p>
            <a:pPr algn="l"/>
            <a:r>
              <a:rPr sz="2700" b="1" i="0">
                <a:solidFill>
                  <a:srgbClr val="040037"/>
                </a:solidFill>
                <a:latin typeface="Figtree"/>
              </a:rPr>
              <a:t>Next Steps &amp; Action Items</a:t>
            </a:r>
          </a:p>
        </p:txBody>
      </p:sp>
      <p:cxnSp>
        <p:nvCxnSpPr>
          <p:cNvPr id="6" name="Connector 5"/>
          <p:cNvCxnSpPr/>
          <p:nvPr/>
        </p:nvCxnSpPr>
        <p:spPr>
          <a:xfrm>
            <a:off x="502920" y="1389888"/>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73952"/>
            <a:ext cx="11185855" cy="0"/>
          </a:xfrm>
          <a:prstGeom prst="line">
            <a:avLst/>
          </a:prstGeom>
          <a:ln w="12700">
            <a:solidFill>
              <a:srgbClr val="D9D8E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47104"/>
            <a:ext cx="5486400" cy="274320"/>
          </a:xfrm>
          <a:prstGeom prst="rect">
            <a:avLst/>
          </a:prstGeom>
          <a:noFill/>
        </p:spPr>
        <p:txBody>
          <a:bodyPr wrap="square" anchor="t" lIns="0" rIns="0" tIns="0" bIns="0">
            <a:noAutofit/>
          </a:bodyPr>
          <a:lstStyle/>
          <a:p>
            <a:pPr algn="l"/>
            <a:r>
              <a:rPr sz="750" b="1" i="0" spc="200">
                <a:solidFill>
                  <a:srgbClr val="8E8CA5"/>
                </a:solidFill>
                <a:latin typeface="Figtree"/>
              </a:rPr>
              <a:t>GRUPO ONE × KIABI</a:t>
            </a:r>
            <a:r>
              <a:rPr sz="750" b="0" i="0" spc="200">
                <a:solidFill>
                  <a:srgbClr val="8E8CA5"/>
                </a:solidFill>
                <a:latin typeface="Figtree"/>
              </a:rPr>
              <a:t>   ·   CONFIDENTIAL — FOR KIABI HQ</a:t>
            </a:r>
          </a:p>
        </p:txBody>
      </p:sp>
      <p:sp>
        <p:nvSpPr>
          <p:cNvPr id="9" name="TextBox 8"/>
          <p:cNvSpPr txBox="1"/>
          <p:nvPr/>
        </p:nvSpPr>
        <p:spPr>
          <a:xfrm>
            <a:off x="8031175" y="6547104"/>
            <a:ext cx="3657600" cy="274320"/>
          </a:xfrm>
          <a:prstGeom prst="rect">
            <a:avLst/>
          </a:prstGeom>
          <a:noFill/>
        </p:spPr>
        <p:txBody>
          <a:bodyPr wrap="square" anchor="t" lIns="0" rIns="0" tIns="0" bIns="0">
            <a:noAutofit/>
          </a:bodyPr>
          <a:lstStyle/>
          <a:p>
            <a:pPr algn="r"/>
            <a:r>
              <a:rPr sz="750" b="0" i="0" spc="200">
                <a:solidFill>
                  <a:srgbClr val="8E8CA5"/>
                </a:solidFill>
                <a:latin typeface="Figtree"/>
              </a:rPr>
              <a:t>[MONTH YEAR]   ·   </a:t>
            </a:r>
            <a:r>
              <a:rPr sz="750" b="1" i="0" spc="200">
                <a:solidFill>
                  <a:srgbClr val="8E8CA5"/>
                </a:solidFill>
                <a:latin typeface="Figtree"/>
              </a:rPr>
              <a:t>09 / 10</a:t>
            </a:r>
          </a:p>
        </p:txBody>
      </p:sp>
      <p:graphicFrame>
        <p:nvGraphicFramePr>
          <p:cNvPr id="10" name="Table 9"/>
          <p:cNvGraphicFramePr>
            <a:graphicFrameLocks noGrp="1"/>
          </p:cNvGraphicFramePr>
          <p:nvPr/>
        </p:nvGraphicFramePr>
        <p:xfrm>
          <a:off x="502920" y="1691640"/>
          <a:ext cx="11183112" cy="2706624"/>
        </p:xfrm>
        <a:graphic>
          <a:graphicData uri="http://schemas.openxmlformats.org/drawingml/2006/table">
            <a:tbl>
              <a:tblPr>
                <a:tableStyleId>{5C22544A-7EE6-4342-B048-85BDC9FD1C3A}</a:tableStyleId>
              </a:tblPr>
              <a:tblGrid>
                <a:gridCol w="502920"/>
                <a:gridCol w="5166360"/>
                <a:gridCol w="2011680"/>
                <a:gridCol w="1737360"/>
                <a:gridCol w="1764792"/>
              </a:tblGrid>
              <a:tr h="420624">
                <a:tc>
                  <a:txBody>
                    <a:bodyPr/>
                    <a:lstStyle/>
                    <a:p>
                      <a:r>
                        <a:rPr sz="950" b="1" spc="200">
                          <a:solidFill>
                            <a:srgbClr val="FFFFFF"/>
                          </a:solidFill>
                          <a:latin typeface="Figtree"/>
                        </a:rPr>
                        <a:t>Nº</a:t>
                      </a:r>
                    </a:p>
                  </a:txBody>
                  <a:tcPr marL="109728" marR="73152" marT="45720" marB="45720" anchor="ctr">
                    <a:solidFill>
                      <a:srgbClr val="040037"/>
                    </a:solidFill>
                  </a:tcPr>
                </a:tc>
                <a:tc>
                  <a:txBody>
                    <a:bodyPr/>
                    <a:lstStyle/>
                    <a:p>
                      <a:r>
                        <a:rPr sz="950" b="1" spc="200">
                          <a:solidFill>
                            <a:srgbClr val="FFFFFF"/>
                          </a:solidFill>
                          <a:latin typeface="Figtree"/>
                        </a:rPr>
                        <a:t>ACTION</a:t>
                      </a:r>
                    </a:p>
                  </a:txBody>
                  <a:tcPr marL="109728" marR="73152" marT="45720" marB="45720" anchor="ctr">
                    <a:solidFill>
                      <a:srgbClr val="040037"/>
                    </a:solidFill>
                  </a:tcPr>
                </a:tc>
                <a:tc>
                  <a:txBody>
                    <a:bodyPr/>
                    <a:lstStyle/>
                    <a:p>
                      <a:r>
                        <a:rPr sz="950" b="1" spc="200">
                          <a:solidFill>
                            <a:srgbClr val="FFFFFF"/>
                          </a:solidFill>
                          <a:latin typeface="Figtree"/>
                        </a:rPr>
                        <a:t>OWNER</a:t>
                      </a:r>
                    </a:p>
                  </a:txBody>
                  <a:tcPr marL="109728" marR="73152" marT="45720" marB="45720" anchor="ctr">
                    <a:solidFill>
                      <a:srgbClr val="040037"/>
                    </a:solidFill>
                  </a:tcPr>
                </a:tc>
                <a:tc>
                  <a:txBody>
                    <a:bodyPr/>
                    <a:lstStyle/>
                    <a:p>
                      <a:r>
                        <a:rPr sz="950" b="1" spc="200">
                          <a:solidFill>
                            <a:srgbClr val="FFFFFF"/>
                          </a:solidFill>
                          <a:latin typeface="Figtree"/>
                        </a:rPr>
                        <a:t>DEADLINE</a:t>
                      </a:r>
                    </a:p>
                  </a:txBody>
                  <a:tcPr marL="109728" marR="73152" marT="45720" marB="45720" anchor="ctr">
                    <a:solidFill>
                      <a:srgbClr val="040037"/>
                    </a:solidFill>
                  </a:tcPr>
                </a:tc>
                <a:tc>
                  <a:txBody>
                    <a:bodyPr/>
                    <a:lstStyle/>
                    <a:p>
                      <a:r>
                        <a:rPr sz="950" b="1" spc="200">
                          <a:solidFill>
                            <a:srgbClr val="FFFFFF"/>
                          </a:solidFill>
                          <a:latin typeface="Figtree"/>
                        </a:rPr>
                        <a:t>STATUS</a:t>
                      </a:r>
                    </a:p>
                  </a:txBody>
                  <a:tcPr marL="109728" marR="73152" marT="45720" marB="45720" anchor="ctr">
                    <a:solidFill>
                      <a:srgbClr val="040037"/>
                    </a:solidFill>
                  </a:tcPr>
                </a:tc>
              </a:tr>
              <a:tr h="457200">
                <a:tc>
                  <a:txBody>
                    <a:bodyPr/>
                    <a:lstStyle/>
                    <a:p>
                      <a:r>
                        <a:rPr sz="1050" b="1">
                          <a:solidFill>
                            <a:srgbClr val="8E8CA5"/>
                          </a:solidFill>
                          <a:latin typeface="Figtree"/>
                        </a:rPr>
                        <a:t>1</a:t>
                      </a:r>
                    </a:p>
                  </a:txBody>
                  <a:tcPr marL="109728" marR="73152" marT="45720" marB="45720" anchor="ctr">
                    <a:solidFill>
                      <a:srgbClr val="FFFFFF"/>
                    </a:solidFill>
                  </a:tcPr>
                </a:tc>
                <a:tc>
                  <a:txBody>
                    <a:bodyPr/>
                    <a:lstStyle/>
                    <a:p>
                      <a:r>
                        <a:rPr sz="1050">
                          <a:solidFill>
                            <a:srgbClr val="040037"/>
                          </a:solidFill>
                          <a:latin typeface="Figtree"/>
                        </a:rPr>
                        <a:t>[ACTION 1 — concrete, verifiable deliverable]</a:t>
                      </a:r>
                    </a:p>
                  </a:txBody>
                  <a:tcPr marL="109728" marR="73152" marT="45720" marB="45720" anchor="ctr">
                    <a:solidFill>
                      <a:srgbClr val="FFFFFF"/>
                    </a:solidFill>
                  </a:tcPr>
                </a:tc>
                <a:tc>
                  <a:txBody>
                    <a:bodyPr/>
                    <a:lstStyle/>
                    <a:p>
                      <a:r>
                        <a:rPr sz="1000">
                          <a:solidFill>
                            <a:srgbClr val="4F4C73"/>
                          </a:solidFill>
                          <a:latin typeface="Figtree"/>
                        </a:rPr>
                        <a:t>[NAME / TEAM]</a:t>
                      </a:r>
                    </a:p>
                  </a:txBody>
                  <a:tcPr marL="109728" marR="73152" marT="45720" marB="45720" anchor="ctr">
                    <a:solidFill>
                      <a:srgbClr val="FFFFFF"/>
                    </a:solidFill>
                  </a:tcPr>
                </a:tc>
                <a:tc>
                  <a:txBody>
                    <a:bodyPr/>
                    <a:lstStyle/>
                    <a:p>
                      <a:r>
                        <a:rPr sz="1000">
                          <a:solidFill>
                            <a:srgbClr val="4F4C73"/>
                          </a:solidFill>
                          <a:latin typeface="Figtree"/>
                        </a:rPr>
                        <a:t>[DATE]</a:t>
                      </a:r>
                    </a:p>
                  </a:txBody>
                  <a:tcPr marL="109728" marR="73152" marT="45720" marB="45720" anchor="ctr">
                    <a:solidFill>
                      <a:srgbClr val="FFFFFF"/>
                    </a:solidFill>
                  </a:tcPr>
                </a:tc>
                <a:tc>
                  <a:txBody>
                    <a:bodyPr/>
                    <a:lstStyle/>
                    <a:p>
                      <a:r>
                        <a:rPr sz="900" b="1">
                          <a:solidFill>
                            <a:srgbClr val="20B14A"/>
                          </a:solidFill>
                          <a:latin typeface="Figtree"/>
                        </a:rPr>
                        <a:t>●  </a:t>
                      </a:r>
                      <a:r>
                        <a:rPr sz="900" b="1" spc="80">
                          <a:solidFill>
                            <a:srgbClr val="4F4C73"/>
                          </a:solidFill>
                          <a:latin typeface="Figtree"/>
                        </a:rPr>
                        <a:t>ON TRACK</a:t>
                      </a:r>
                    </a:p>
                  </a:txBody>
                  <a:tcPr marL="109728" marR="73152" marT="45720" marB="45720" anchor="ctr">
                    <a:solidFill>
                      <a:srgbClr val="FFFFFF"/>
                    </a:solidFill>
                  </a:tcPr>
                </a:tc>
              </a:tr>
              <a:tr h="457200">
                <a:tc>
                  <a:txBody>
                    <a:bodyPr/>
                    <a:lstStyle/>
                    <a:p>
                      <a:r>
                        <a:rPr sz="1050" b="1">
                          <a:solidFill>
                            <a:srgbClr val="8E8CA5"/>
                          </a:solidFill>
                          <a:latin typeface="Figtree"/>
                        </a:rPr>
                        <a:t>2</a:t>
                      </a:r>
                    </a:p>
                  </a:txBody>
                  <a:tcPr marL="109728" marR="73152" marT="45720" marB="45720" anchor="ctr">
                    <a:solidFill>
                      <a:srgbClr val="F6F6F8"/>
                    </a:solidFill>
                  </a:tcPr>
                </a:tc>
                <a:tc>
                  <a:txBody>
                    <a:bodyPr/>
                    <a:lstStyle/>
                    <a:p>
                      <a:r>
                        <a:rPr sz="1050">
                          <a:solidFill>
                            <a:srgbClr val="040037"/>
                          </a:solidFill>
                          <a:latin typeface="Figtree"/>
                        </a:rPr>
                        <a:t>[ACTION 2 — concrete, verifiable deliverable]</a:t>
                      </a:r>
                    </a:p>
                  </a:txBody>
                  <a:tcPr marL="109728" marR="73152" marT="45720" marB="45720" anchor="ctr">
                    <a:solidFill>
                      <a:srgbClr val="F6F6F8"/>
                    </a:solidFill>
                  </a:tcPr>
                </a:tc>
                <a:tc>
                  <a:txBody>
                    <a:bodyPr/>
                    <a:lstStyle/>
                    <a:p>
                      <a:r>
                        <a:rPr sz="1000">
                          <a:solidFill>
                            <a:srgbClr val="4F4C73"/>
                          </a:solidFill>
                          <a:latin typeface="Figtree"/>
                        </a:rPr>
                        <a:t>[NAME / TEAM]</a:t>
                      </a:r>
                    </a:p>
                  </a:txBody>
                  <a:tcPr marL="109728" marR="73152" marT="45720" marB="45720" anchor="ctr">
                    <a:solidFill>
                      <a:srgbClr val="F6F6F8"/>
                    </a:solidFill>
                  </a:tcPr>
                </a:tc>
                <a:tc>
                  <a:txBody>
                    <a:bodyPr/>
                    <a:lstStyle/>
                    <a:p>
                      <a:r>
                        <a:rPr sz="1000">
                          <a:solidFill>
                            <a:srgbClr val="4F4C73"/>
                          </a:solidFill>
                          <a:latin typeface="Figtree"/>
                        </a:rPr>
                        <a:t>[DATE]</a:t>
                      </a:r>
                    </a:p>
                  </a:txBody>
                  <a:tcPr marL="109728" marR="73152" marT="45720" marB="45720" anchor="ctr">
                    <a:solidFill>
                      <a:srgbClr val="F6F6F8"/>
                    </a:solidFill>
                  </a:tcPr>
                </a:tc>
                <a:tc>
                  <a:txBody>
                    <a:bodyPr/>
                    <a:lstStyle/>
                    <a:p>
                      <a:r>
                        <a:rPr sz="900" b="1">
                          <a:solidFill>
                            <a:srgbClr val="20B14A"/>
                          </a:solidFill>
                          <a:latin typeface="Figtree"/>
                        </a:rPr>
                        <a:t>●  </a:t>
                      </a:r>
                      <a:r>
                        <a:rPr sz="900" b="1" spc="80">
                          <a:solidFill>
                            <a:srgbClr val="4F4C73"/>
                          </a:solidFill>
                          <a:latin typeface="Figtree"/>
                        </a:rPr>
                        <a:t>ON TRACK</a:t>
                      </a:r>
                    </a:p>
                  </a:txBody>
                  <a:tcPr marL="109728" marR="73152" marT="45720" marB="45720" anchor="ctr">
                    <a:solidFill>
                      <a:srgbClr val="F6F6F8"/>
                    </a:solidFill>
                  </a:tcPr>
                </a:tc>
              </a:tr>
              <a:tr h="457200">
                <a:tc>
                  <a:txBody>
                    <a:bodyPr/>
                    <a:lstStyle/>
                    <a:p>
                      <a:r>
                        <a:rPr sz="1050" b="1">
                          <a:solidFill>
                            <a:srgbClr val="8E8CA5"/>
                          </a:solidFill>
                          <a:latin typeface="Figtree"/>
                        </a:rPr>
                        <a:t>3</a:t>
                      </a:r>
                    </a:p>
                  </a:txBody>
                  <a:tcPr marL="109728" marR="73152" marT="45720" marB="45720" anchor="ctr">
                    <a:solidFill>
                      <a:srgbClr val="FFFFFF"/>
                    </a:solidFill>
                  </a:tcPr>
                </a:tc>
                <a:tc>
                  <a:txBody>
                    <a:bodyPr/>
                    <a:lstStyle/>
                    <a:p>
                      <a:r>
                        <a:rPr sz="1050">
                          <a:solidFill>
                            <a:srgbClr val="040037"/>
                          </a:solidFill>
                          <a:latin typeface="Figtree"/>
                        </a:rPr>
                        <a:t>[ACTION 3 — concrete, verifiable deliverable]</a:t>
                      </a:r>
                    </a:p>
                  </a:txBody>
                  <a:tcPr marL="109728" marR="73152" marT="45720" marB="45720" anchor="ctr">
                    <a:solidFill>
                      <a:srgbClr val="FFFFFF"/>
                    </a:solidFill>
                  </a:tcPr>
                </a:tc>
                <a:tc>
                  <a:txBody>
                    <a:bodyPr/>
                    <a:lstStyle/>
                    <a:p>
                      <a:r>
                        <a:rPr sz="1000">
                          <a:solidFill>
                            <a:srgbClr val="4F4C73"/>
                          </a:solidFill>
                          <a:latin typeface="Figtree"/>
                        </a:rPr>
                        <a:t>[NAME / TEAM]</a:t>
                      </a:r>
                    </a:p>
                  </a:txBody>
                  <a:tcPr marL="109728" marR="73152" marT="45720" marB="45720" anchor="ctr">
                    <a:solidFill>
                      <a:srgbClr val="FFFFFF"/>
                    </a:solidFill>
                  </a:tcPr>
                </a:tc>
                <a:tc>
                  <a:txBody>
                    <a:bodyPr/>
                    <a:lstStyle/>
                    <a:p>
                      <a:r>
                        <a:rPr sz="1000">
                          <a:solidFill>
                            <a:srgbClr val="4F4C73"/>
                          </a:solidFill>
                          <a:latin typeface="Figtree"/>
                        </a:rPr>
                        <a:t>[DATE]</a:t>
                      </a:r>
                    </a:p>
                  </a:txBody>
                  <a:tcPr marL="109728" marR="73152" marT="45720" marB="45720" anchor="ctr">
                    <a:solidFill>
                      <a:srgbClr val="FFFFFF"/>
                    </a:solidFill>
                  </a:tcPr>
                </a:tc>
                <a:tc>
                  <a:txBody>
                    <a:bodyPr/>
                    <a:lstStyle/>
                    <a:p>
                      <a:r>
                        <a:rPr sz="900" b="1">
                          <a:solidFill>
                            <a:srgbClr val="FFDA00"/>
                          </a:solidFill>
                          <a:latin typeface="Figtree"/>
                        </a:rPr>
                        <a:t>●  </a:t>
                      </a:r>
                      <a:r>
                        <a:rPr sz="900" b="1" spc="80">
                          <a:solidFill>
                            <a:srgbClr val="4F4C73"/>
                          </a:solidFill>
                          <a:latin typeface="Figtree"/>
                        </a:rPr>
                        <a:t>AT RISK</a:t>
                      </a:r>
                    </a:p>
                  </a:txBody>
                  <a:tcPr marL="109728" marR="73152" marT="45720" marB="45720" anchor="ctr">
                    <a:solidFill>
                      <a:srgbClr val="FFFFFF"/>
                    </a:solidFill>
                  </a:tcPr>
                </a:tc>
              </a:tr>
              <a:tr h="457200">
                <a:tc>
                  <a:txBody>
                    <a:bodyPr/>
                    <a:lstStyle/>
                    <a:p>
                      <a:r>
                        <a:rPr sz="1050" b="1">
                          <a:solidFill>
                            <a:srgbClr val="8E8CA5"/>
                          </a:solidFill>
                          <a:latin typeface="Figtree"/>
                        </a:rPr>
                        <a:t>4</a:t>
                      </a:r>
                    </a:p>
                  </a:txBody>
                  <a:tcPr marL="109728" marR="73152" marT="45720" marB="45720" anchor="ctr">
                    <a:solidFill>
                      <a:srgbClr val="F6F6F8"/>
                    </a:solidFill>
                  </a:tcPr>
                </a:tc>
                <a:tc>
                  <a:txBody>
                    <a:bodyPr/>
                    <a:lstStyle/>
                    <a:p>
                      <a:r>
                        <a:rPr sz="1050">
                          <a:solidFill>
                            <a:srgbClr val="040037"/>
                          </a:solidFill>
                          <a:latin typeface="Figtree"/>
                        </a:rPr>
                        <a:t>[ACTION 4 — concrete, verifiable deliverable]</a:t>
                      </a:r>
                    </a:p>
                  </a:txBody>
                  <a:tcPr marL="109728" marR="73152" marT="45720" marB="45720" anchor="ctr">
                    <a:solidFill>
                      <a:srgbClr val="F6F6F8"/>
                    </a:solidFill>
                  </a:tcPr>
                </a:tc>
                <a:tc>
                  <a:txBody>
                    <a:bodyPr/>
                    <a:lstStyle/>
                    <a:p>
                      <a:r>
                        <a:rPr sz="1000">
                          <a:solidFill>
                            <a:srgbClr val="4F4C73"/>
                          </a:solidFill>
                          <a:latin typeface="Figtree"/>
                        </a:rPr>
                        <a:t>[NAME / TEAM]</a:t>
                      </a:r>
                    </a:p>
                  </a:txBody>
                  <a:tcPr marL="109728" marR="73152" marT="45720" marB="45720" anchor="ctr">
                    <a:solidFill>
                      <a:srgbClr val="F6F6F8"/>
                    </a:solidFill>
                  </a:tcPr>
                </a:tc>
                <a:tc>
                  <a:txBody>
                    <a:bodyPr/>
                    <a:lstStyle/>
                    <a:p>
                      <a:r>
                        <a:rPr sz="1000">
                          <a:solidFill>
                            <a:srgbClr val="4F4C73"/>
                          </a:solidFill>
                          <a:latin typeface="Figtree"/>
                        </a:rPr>
                        <a:t>[DATE]</a:t>
                      </a:r>
                    </a:p>
                  </a:txBody>
                  <a:tcPr marL="109728" marR="73152" marT="45720" marB="45720" anchor="ctr">
                    <a:solidFill>
                      <a:srgbClr val="F6F6F8"/>
                    </a:solidFill>
                  </a:tcPr>
                </a:tc>
                <a:tc>
                  <a:txBody>
                    <a:bodyPr/>
                    <a:lstStyle/>
                    <a:p>
                      <a:r>
                        <a:rPr sz="900" b="1">
                          <a:solidFill>
                            <a:srgbClr val="8E8CA5"/>
                          </a:solidFill>
                          <a:latin typeface="Figtree"/>
                        </a:rPr>
                        <a:t>●  </a:t>
                      </a:r>
                      <a:r>
                        <a:rPr sz="900" b="1" spc="80">
                          <a:solidFill>
                            <a:srgbClr val="4F4C73"/>
                          </a:solidFill>
                          <a:latin typeface="Figtree"/>
                        </a:rPr>
                        <a:t>NOT STARTED</a:t>
                      </a:r>
                    </a:p>
                  </a:txBody>
                  <a:tcPr marL="109728" marR="73152" marT="45720" marB="45720" anchor="ctr">
                    <a:solidFill>
                      <a:srgbClr val="F6F6F8"/>
                    </a:solidFill>
                  </a:tcPr>
                </a:tc>
              </a:tr>
              <a:tr h="457200">
                <a:tc>
                  <a:txBody>
                    <a:bodyPr/>
                    <a:lstStyle/>
                    <a:p>
                      <a:r>
                        <a:rPr sz="1050" b="1">
                          <a:solidFill>
                            <a:srgbClr val="8E8CA5"/>
                          </a:solidFill>
                          <a:latin typeface="Figtree"/>
                        </a:rPr>
                        <a:t>5</a:t>
                      </a:r>
                    </a:p>
                  </a:txBody>
                  <a:tcPr marL="109728" marR="73152" marT="45720" marB="45720" anchor="ctr">
                    <a:solidFill>
                      <a:srgbClr val="FFFFFF"/>
                    </a:solidFill>
                  </a:tcPr>
                </a:tc>
                <a:tc>
                  <a:txBody>
                    <a:bodyPr/>
                    <a:lstStyle/>
                    <a:p>
                      <a:r>
                        <a:rPr sz="1050">
                          <a:solidFill>
                            <a:srgbClr val="040037"/>
                          </a:solidFill>
                          <a:latin typeface="Figtree"/>
                        </a:rPr>
                        <a:t>[ACTION 5 — concrete, verifiable deliverable]</a:t>
                      </a:r>
                    </a:p>
                  </a:txBody>
                  <a:tcPr marL="109728" marR="73152" marT="45720" marB="45720" anchor="ctr">
                    <a:solidFill>
                      <a:srgbClr val="FFFFFF"/>
                    </a:solidFill>
                  </a:tcPr>
                </a:tc>
                <a:tc>
                  <a:txBody>
                    <a:bodyPr/>
                    <a:lstStyle/>
                    <a:p>
                      <a:r>
                        <a:rPr sz="1000">
                          <a:solidFill>
                            <a:srgbClr val="4F4C73"/>
                          </a:solidFill>
                          <a:latin typeface="Figtree"/>
                        </a:rPr>
                        <a:t>[NAME / TEAM]</a:t>
                      </a:r>
                    </a:p>
                  </a:txBody>
                  <a:tcPr marL="109728" marR="73152" marT="45720" marB="45720" anchor="ctr">
                    <a:solidFill>
                      <a:srgbClr val="FFFFFF"/>
                    </a:solidFill>
                  </a:tcPr>
                </a:tc>
                <a:tc>
                  <a:txBody>
                    <a:bodyPr/>
                    <a:lstStyle/>
                    <a:p>
                      <a:r>
                        <a:rPr sz="1000">
                          <a:solidFill>
                            <a:srgbClr val="4F4C73"/>
                          </a:solidFill>
                          <a:latin typeface="Figtree"/>
                        </a:rPr>
                        <a:t>[DATE]</a:t>
                      </a:r>
                    </a:p>
                  </a:txBody>
                  <a:tcPr marL="109728" marR="73152" marT="45720" marB="45720" anchor="ctr">
                    <a:solidFill>
                      <a:srgbClr val="FFFFFF"/>
                    </a:solidFill>
                  </a:tcPr>
                </a:tc>
                <a:tc>
                  <a:txBody>
                    <a:bodyPr/>
                    <a:lstStyle/>
                    <a:p>
                      <a:r>
                        <a:rPr sz="900" b="1">
                          <a:solidFill>
                            <a:srgbClr val="006EFB"/>
                          </a:solidFill>
                          <a:latin typeface="Figtree"/>
                        </a:rPr>
                        <a:t>●  </a:t>
                      </a:r>
                      <a:r>
                        <a:rPr sz="900" b="1" spc="80">
                          <a:solidFill>
                            <a:srgbClr val="4F4C73"/>
                          </a:solidFill>
                          <a:latin typeface="Figtree"/>
                        </a:rPr>
                        <a:t>DONE</a:t>
                      </a:r>
                    </a:p>
                  </a:txBody>
                  <a:tcPr marL="109728" marR="73152" marT="45720" marB="45720" anchor="ctr">
                    <a:solidFill>
                      <a:srgbClr val="FFFFFF"/>
                    </a:solidFill>
                  </a:tcPr>
                </a:tc>
              </a:tr>
            </a:tbl>
          </a:graphicData>
        </a:graphic>
      </p:graphicFrame>
      <p:sp>
        <p:nvSpPr>
          <p:cNvPr id="11" name="Rounded Rectangle 10"/>
          <p:cNvSpPr/>
          <p:nvPr/>
        </p:nvSpPr>
        <p:spPr>
          <a:xfrm>
            <a:off x="502920" y="5230368"/>
            <a:ext cx="11185855" cy="1005840"/>
          </a:xfrm>
          <a:prstGeom prst="roundRect">
            <a:avLst>
              <a:gd name="adj" fmla="val 10000"/>
            </a:avLst>
          </a:prstGeom>
          <a:solidFill>
            <a:srgbClr val="FFF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230368"/>
            <a:ext cx="82296" cy="1005840"/>
          </a:xfrm>
          <a:prstGeom prst="rect">
            <a:avLst/>
          </a:prstGeom>
          <a:solidFill>
            <a:srgbClr val="FFD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5376672"/>
            <a:ext cx="3657600" cy="274320"/>
          </a:xfrm>
          <a:prstGeom prst="rect">
            <a:avLst/>
          </a:prstGeom>
          <a:noFill/>
        </p:spPr>
        <p:txBody>
          <a:bodyPr wrap="square" anchor="t" lIns="0" rIns="0" tIns="0" bIns="0">
            <a:noAutofit/>
          </a:bodyPr>
          <a:lstStyle/>
          <a:p>
            <a:pPr algn="l"/>
            <a:r>
              <a:rPr sz="950" b="1" i="0" spc="250">
                <a:solidFill>
                  <a:srgbClr val="040037"/>
                </a:solidFill>
                <a:latin typeface="Figtree"/>
              </a:rPr>
              <a:t>DECISIONS REQUESTED FROM HQ</a:t>
            </a:r>
          </a:p>
        </p:txBody>
      </p:sp>
      <p:sp>
        <p:nvSpPr>
          <p:cNvPr id="14" name="TextBox 13"/>
          <p:cNvSpPr txBox="1"/>
          <p:nvPr/>
        </p:nvSpPr>
        <p:spPr>
          <a:xfrm>
            <a:off x="804672" y="5650992"/>
            <a:ext cx="10607040" cy="502920"/>
          </a:xfrm>
          <a:prstGeom prst="rect">
            <a:avLst/>
          </a:prstGeom>
          <a:noFill/>
        </p:spPr>
        <p:txBody>
          <a:bodyPr wrap="square" anchor="t" lIns="0" rIns="0" tIns="0" bIns="0">
            <a:noAutofit/>
          </a:bodyPr>
          <a:lstStyle/>
          <a:p>
            <a:pPr algn="l"/>
            <a:r>
              <a:rPr sz="1100" b="0" i="0">
                <a:solidFill>
                  <a:srgbClr val="4F4C73"/>
                </a:solidFill>
                <a:latin typeface="Figtree"/>
              </a:rPr>
              <a:t>[DECISION 1 — approval, budget or guideline needed]   ·   [DECISION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40037"/>
        </a:solidFill>
        <a:effectLst/>
      </p:bgPr>
    </p:bg>
    <p:spTree>
      <p:nvGrpSpPr>
        <p:cNvPr id="1" name=""/>
        <p:cNvGrpSpPr/>
        <p:nvPr/>
      </p:nvGrpSpPr>
      <p:grpSpPr/>
      <p:pic>
        <p:nvPicPr>
          <p:cNvPr id="2" name="Picture 1" descr="fan_dark.png"/>
          <p:cNvPicPr>
            <a:picLocks noChangeAspect="1"/>
          </p:cNvPicPr>
          <p:nvPr/>
        </p:nvPicPr>
        <p:blipFill>
          <a:blip r:embed="rId2"/>
          <a:stretch>
            <a:fillRect/>
          </a:stretch>
        </p:blipFill>
        <p:spPr>
          <a:xfrm>
            <a:off x="7345375" y="2011680"/>
            <a:ext cx="4846320" cy="4846320"/>
          </a:xfrm>
          <a:prstGeom prst="rect">
            <a:avLst/>
          </a:prstGeom>
        </p:spPr>
      </p:pic>
      <p:sp>
        <p:nvSpPr>
          <p:cNvPr id="3" name="TextBox 2"/>
          <p:cNvSpPr txBox="1"/>
          <p:nvPr/>
        </p:nvSpPr>
        <p:spPr>
          <a:xfrm>
            <a:off x="502920" y="1783080"/>
            <a:ext cx="8229600" cy="1188720"/>
          </a:xfrm>
          <a:prstGeom prst="rect">
            <a:avLst/>
          </a:prstGeom>
          <a:noFill/>
        </p:spPr>
        <p:txBody>
          <a:bodyPr wrap="square" anchor="t" lIns="0" rIns="0" tIns="0" bIns="0">
            <a:noAutofit/>
          </a:bodyPr>
          <a:lstStyle/>
          <a:p>
            <a:pPr algn="l"/>
            <a:r>
              <a:rPr sz="5000" b="1" i="0">
                <a:solidFill>
                  <a:srgbClr val="FFFFFF"/>
                </a:solidFill>
                <a:latin typeface="Figtree"/>
              </a:rPr>
              <a:t>Merci. </a:t>
            </a:r>
            <a:r>
              <a:rPr sz="5000" b="1" i="0">
                <a:solidFill>
                  <a:srgbClr val="FFDA00"/>
                </a:solidFill>
                <a:latin typeface="Figtree"/>
              </a:rPr>
              <a:t>Gracias.</a:t>
            </a:r>
          </a:p>
        </p:txBody>
      </p:sp>
      <p:sp>
        <p:nvSpPr>
          <p:cNvPr id="4" name="TextBox 3"/>
          <p:cNvSpPr txBox="1"/>
          <p:nvPr/>
        </p:nvSpPr>
        <p:spPr>
          <a:xfrm>
            <a:off x="521207" y="2880360"/>
            <a:ext cx="7315200" cy="365760"/>
          </a:xfrm>
          <a:prstGeom prst="rect">
            <a:avLst/>
          </a:prstGeom>
          <a:noFill/>
        </p:spPr>
        <p:txBody>
          <a:bodyPr wrap="square" anchor="t" lIns="0" rIns="0" tIns="0" bIns="0">
            <a:noAutofit/>
          </a:bodyPr>
          <a:lstStyle/>
          <a:p>
            <a:pPr algn="l"/>
            <a:r>
              <a:rPr sz="1200" b="0" i="0" spc="380">
                <a:solidFill>
                  <a:srgbClr val="BDBBD4"/>
                </a:solidFill>
                <a:latin typeface="Figtree"/>
              </a:rPr>
              <a:t>QUESTIONS &amp; DISCUSSION</a:t>
            </a:r>
          </a:p>
        </p:txBody>
      </p:sp>
      <p:cxnSp>
        <p:nvCxnSpPr>
          <p:cNvPr id="5" name="Connector 4"/>
          <p:cNvCxnSpPr/>
          <p:nvPr/>
        </p:nvCxnSpPr>
        <p:spPr>
          <a:xfrm>
            <a:off x="521207" y="3520440"/>
            <a:ext cx="3840481" cy="0"/>
          </a:xfrm>
          <a:prstGeom prst="line">
            <a:avLst/>
          </a:prstGeom>
          <a:ln w="12700">
            <a:solidFill>
              <a:srgbClr val="4F4C73"/>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3749039"/>
            <a:ext cx="6858000" cy="1188720"/>
          </a:xfrm>
          <a:prstGeom prst="rect">
            <a:avLst/>
          </a:prstGeom>
          <a:noFill/>
        </p:spPr>
        <p:txBody>
          <a:bodyPr wrap="square" anchor="t" lIns="0" rIns="0" tIns="0" bIns="0">
            <a:noAutofit/>
          </a:bodyPr>
          <a:lstStyle/>
          <a:p>
            <a:pPr algn="l">
              <a:spcAft>
                <a:spcPts val="600"/>
              </a:spcAft>
            </a:pPr>
            <a:r>
              <a:rPr sz="1500" b="1" i="0">
                <a:solidFill>
                  <a:srgbClr val="FFFFFF"/>
                </a:solidFill>
                <a:latin typeface="Figtree"/>
              </a:rPr>
              <a:t>[NAME]</a:t>
            </a:r>
            <a:r>
              <a:rPr sz="1200" b="0" i="0">
                <a:solidFill>
                  <a:srgbClr val="BDBBD4"/>
                </a:solidFill>
                <a:latin typeface="Figtree"/>
              </a:rPr>
              <a:t>  —  VP Brand Marketing, Grupo One</a:t>
            </a:r>
          </a:p>
          <a:p>
            <a:pPr algn="l"/>
            <a:r>
              <a:rPr sz="1100" b="0" i="0">
                <a:solidFill>
                  <a:srgbClr val="BDBBD4"/>
                </a:solidFill>
                <a:latin typeface="Figtree"/>
              </a:rPr>
              <a:t>[EMAIL]   ·   [PHONE]   ·   grupone.online</a:t>
            </a:r>
          </a:p>
        </p:txBody>
      </p:sp>
      <p:sp>
        <p:nvSpPr>
          <p:cNvPr id="7" name="Rounded Rectangle 6"/>
          <p:cNvSpPr/>
          <p:nvPr/>
        </p:nvSpPr>
        <p:spPr>
          <a:xfrm>
            <a:off x="521207" y="4983480"/>
            <a:ext cx="3931920" cy="457200"/>
          </a:xfrm>
          <a:prstGeom prst="roundRect">
            <a:avLst>
              <a:gd name="adj" fmla="val 50000"/>
            </a:avLst>
          </a:prstGeom>
          <a:noFill/>
          <a:ln w="12700">
            <a:solidFill>
              <a:srgbClr val="BDBBD4"/>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050" b="1" spc="180">
                <a:solidFill>
                  <a:srgbClr val="FFFFFF"/>
                </a:solidFill>
                <a:latin typeface="Figtree"/>
              </a:rPr>
              <a:t>NEXT REVIEW: [DATE] · [FORMAT]</a:t>
            </a:r>
          </a:p>
        </p:txBody>
      </p:sp>
      <p:pic>
        <p:nvPicPr>
          <p:cNvPr id="8" name="Picture 7" descr="kiabi_white.png"/>
          <p:cNvPicPr>
            <a:picLocks noChangeAspect="1"/>
          </p:cNvPicPr>
          <p:nvPr/>
        </p:nvPicPr>
        <p:blipFill>
          <a:blip r:embed="rId3"/>
          <a:stretch>
            <a:fillRect/>
          </a:stretch>
        </p:blipFill>
        <p:spPr>
          <a:xfrm>
            <a:off x="521207" y="5897880"/>
            <a:ext cx="1417320" cy="314960"/>
          </a:xfrm>
          <a:prstGeom prst="rect">
            <a:avLst/>
          </a:prstGeom>
        </p:spPr>
      </p:pic>
      <p:pic>
        <p:nvPicPr>
          <p:cNvPr id="9" name="Picture 8" descr="gone_white.png"/>
          <p:cNvPicPr>
            <a:picLocks noChangeAspect="1"/>
          </p:cNvPicPr>
          <p:nvPr/>
        </p:nvPicPr>
        <p:blipFill>
          <a:blip r:embed="rId4"/>
          <a:stretch>
            <a:fillRect/>
          </a:stretch>
        </p:blipFill>
        <p:spPr>
          <a:xfrm>
            <a:off x="2331720" y="5779008"/>
            <a:ext cx="566928" cy="571967"/>
          </a:xfrm>
          <a:prstGeom prst="rect">
            <a:avLst/>
          </a:prstGeom>
        </p:spPr>
      </p:pic>
      <p:sp>
        <p:nvSpPr>
          <p:cNvPr id="10" name="Rectangle 9"/>
          <p:cNvSpPr/>
          <p:nvPr/>
        </p:nvSpPr>
        <p:spPr>
          <a:xfrm>
            <a:off x="0" y="6729984"/>
            <a:ext cx="2447483" cy="128016"/>
          </a:xfrm>
          <a:prstGeom prst="rect">
            <a:avLst/>
          </a:prstGeom>
          <a:solidFill>
            <a:srgbClr val="FB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38339" y="6729984"/>
            <a:ext cx="2447483" cy="128016"/>
          </a:xfrm>
          <a:prstGeom prst="rect">
            <a:avLst/>
          </a:prstGeom>
          <a:solidFill>
            <a:srgbClr val="E9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76678" y="6729984"/>
            <a:ext cx="2447483" cy="128016"/>
          </a:xfrm>
          <a:prstGeom prst="rect">
            <a:avLst/>
          </a:prstGeom>
          <a:solidFill>
            <a:srgbClr val="FFD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017" y="6729984"/>
            <a:ext cx="2447483" cy="128016"/>
          </a:xfrm>
          <a:prstGeom prst="rect">
            <a:avLst/>
          </a:prstGeom>
          <a:solidFill>
            <a:srgbClr val="20B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753356" y="6729984"/>
            <a:ext cx="2447483" cy="128016"/>
          </a:xfrm>
          <a:prstGeom prst="rect">
            <a:avLst/>
          </a:prstGeom>
          <a:solidFill>
            <a:srgbClr val="006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Figtre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gtree"/>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Figtre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gtree"/>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